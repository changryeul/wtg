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291840" cy="3291840"/>
          </a:xfrm>
          <a:prstGeom prst="ellipse">
            <a:avLst/>
          </a:prstGeom>
          <a:solidFill>
            <a:srgbClr val="0E7C8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WTG · 아키텍처 브리핑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프로세스 간 통신 전체 그림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구간을 어떤 기술로 잇는가 — 경계별 전송 프로토콜 지도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· MyMQ wire · gRPC · HTTP/REST · WebSocket · FIX 4.4 · PostgreSQL · Redis · SHM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통신 지도 — 노드는 프로세스, 선 색은 전송 기술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103120" y="1097280"/>
            <a:ext cx="2606040" cy="0"/>
          </a:xfrm>
          <a:prstGeom prst="line">
            <a:avLst/>
          </a:prstGeom>
          <a:noFill/>
          <a:ln w="22225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103120" y="1645920"/>
            <a:ext cx="411480" cy="0"/>
          </a:xfrm>
          <a:prstGeom prst="line">
            <a:avLst/>
          </a:prstGeom>
          <a:noFill/>
          <a:ln w="22225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03120" y="2194560"/>
            <a:ext cx="411480" cy="0"/>
          </a:xfrm>
          <a:prstGeom prst="line">
            <a:avLst/>
          </a:prstGeom>
          <a:noFill/>
          <a:ln w="22225">
            <a:solidFill>
              <a:srgbClr val="8B5C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2743200"/>
            <a:ext cx="411480" cy="0"/>
          </a:xfrm>
          <a:prstGeom prst="line">
            <a:avLst/>
          </a:prstGeom>
          <a:noFill/>
          <a:ln w="22225">
            <a:solidFill>
              <a:srgbClr val="8B5C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3291840"/>
            <a:ext cx="411480" cy="0"/>
          </a:xfrm>
          <a:prstGeom prst="line">
            <a:avLst/>
          </a:prstGeom>
          <a:noFill/>
          <a:ln w="22225">
            <a:solidFill>
              <a:srgbClr val="8B5C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3840480"/>
            <a:ext cx="411480" cy="0"/>
          </a:xfrm>
          <a:prstGeom prst="line">
            <a:avLst/>
          </a:prstGeom>
          <a:noFill/>
          <a:ln w="22225">
            <a:solidFill>
              <a:srgbClr val="9A7B4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645920"/>
            <a:ext cx="365760" cy="0"/>
          </a:xfrm>
          <a:prstGeom prst="line">
            <a:avLst/>
          </a:prstGeom>
          <a:noFill/>
          <a:ln w="22225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36576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2743200"/>
            <a:ext cx="36576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3291840"/>
            <a:ext cx="365760" cy="0"/>
          </a:xfrm>
          <a:prstGeom prst="line">
            <a:avLst/>
          </a:prstGeom>
          <a:noFill/>
          <a:ln w="22225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4343400" y="1645920"/>
            <a:ext cx="365760" cy="2194560"/>
          </a:xfrm>
          <a:prstGeom prst="line">
            <a:avLst/>
          </a:prstGeom>
          <a:noFill/>
          <a:ln w="22225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37960" y="1097280"/>
            <a:ext cx="548640" cy="525780"/>
          </a:xfrm>
          <a:prstGeom prst="line">
            <a:avLst/>
          </a:prstGeom>
          <a:noFill/>
          <a:ln w="2222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6537960" y="1623060"/>
            <a:ext cx="548640" cy="22860"/>
          </a:xfrm>
          <a:prstGeom prst="line">
            <a:avLst/>
          </a:prstGeom>
          <a:noFill/>
          <a:ln w="2222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6537960" y="1623060"/>
            <a:ext cx="548640" cy="571500"/>
          </a:xfrm>
          <a:prstGeom prst="line">
            <a:avLst/>
          </a:prstGeom>
          <a:noFill/>
          <a:ln w="2222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6537960" y="1623060"/>
            <a:ext cx="548640" cy="1120140"/>
          </a:xfrm>
          <a:prstGeom prst="line">
            <a:avLst/>
          </a:prstGeom>
          <a:noFill/>
          <a:ln w="2222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6537960" y="1623060"/>
            <a:ext cx="548640" cy="2217420"/>
          </a:xfrm>
          <a:prstGeom prst="line">
            <a:avLst/>
          </a:prstGeom>
          <a:noFill/>
          <a:ln w="2222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6537960" y="2761488"/>
            <a:ext cx="548640" cy="1078992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2194560"/>
            <a:ext cx="548640" cy="54864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1645920"/>
            <a:ext cx="548640" cy="164592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37960" y="2194560"/>
            <a:ext cx="548640" cy="1645920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37960" y="3291840"/>
            <a:ext cx="548640" cy="548640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54880" y="2194560"/>
            <a:ext cx="0" cy="109728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4320" y="8686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피드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SMB/KMB/EBS/Reuters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4173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/ REST 클라이언트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WS 클라이언트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WS 클라이언트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챠트 WS 클라이언트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FIX 카운터파티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14600" y="14173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146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mci-edge-api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:8090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1460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146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mci-edge-price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1460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146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mci-edge-push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1460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146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mci-edge-chart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1460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146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mci-edge-fix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8686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0916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quote-forwarder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UDP→broker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14173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mci-api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091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mci-price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 / :50051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091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mci-push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0916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7091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mci-chart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:8086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916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0916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mci-admin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086600" y="91440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086600" y="914400"/>
            <a:ext cx="182880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mymqd (broker)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:11217 · MyMQ wire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08660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0866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카탈로그/정책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8660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0866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· cookie_t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8660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0866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quote_bars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7432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· 진입점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51460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Edge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70916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서비스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08660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· 저장소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4315968"/>
            <a:ext cx="8641080" cy="932688"/>
          </a:xfrm>
          <a:prstGeom prst="roundRect">
            <a:avLst>
              <a:gd name="adj" fmla="val 5882"/>
            </a:avLst>
          </a:prstGeom>
          <a:solidFill>
            <a:srgbClr val="FBF2F7"/>
          </a:solidFill>
          <a:ln w="15875">
            <a:solidFill>
              <a:srgbClr val="D81B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44398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1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세계 — broker·gRPC 미접촉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호스트 · 외부 의존 0 · 기존 C 코드가 mymq 없이 붙는 경로 (raw socket · HTTP · SHM)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709160" y="45262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709160" y="452628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cside 운영 svc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wtgpush/query/price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903720" y="45262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903720" y="4526280"/>
            <a:ext cx="1828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algo (매매)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host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 flipH="1" flipV="1">
            <a:off x="5623560" y="2743200"/>
            <a:ext cx="45720" cy="1783080"/>
          </a:xfrm>
          <a:prstGeom prst="line">
            <a:avLst/>
          </a:prstGeom>
          <a:noFill/>
          <a:ln w="22225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 flipV="1">
            <a:off x="5623560" y="2414016"/>
            <a:ext cx="45720" cy="2112264"/>
          </a:xfrm>
          <a:prstGeom prst="line">
            <a:avLst/>
          </a:prstGeom>
          <a:noFill/>
          <a:ln w="22225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H="1" flipV="1">
            <a:off x="6080760" y="2414016"/>
            <a:ext cx="1691640" cy="2112264"/>
          </a:xfrm>
          <a:prstGeom prst="line">
            <a:avLst/>
          </a:prstGeom>
          <a:noFill/>
          <a:ln w="22225">
            <a:solidFill>
              <a:srgbClr val="D81B7A"/>
            </a:solidFill>
            <a:prstDash val="dash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9464040" y="868680"/>
            <a:ext cx="2423160" cy="4379976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C3CC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01200" y="9784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기술 범례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628632" y="1444752"/>
            <a:ext cx="384048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085832" y="12893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FIX 4.4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시세 피드 수신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9628632" y="1860804"/>
            <a:ext cx="384048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085832" y="17053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MyMQ wire (TCP)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서비스 ↔ broker</a:t>
            </a:r>
            <a:endParaRPr lang="en-US" sz="870" dirty="0"/>
          </a:p>
        </p:txBody>
      </p:sp>
      <p:sp>
        <p:nvSpPr>
          <p:cNvPr id="86" name="Shape 84"/>
          <p:cNvSpPr/>
          <p:nvPr/>
        </p:nvSpPr>
        <p:spPr>
          <a:xfrm>
            <a:off x="9628632" y="2276856"/>
            <a:ext cx="384048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085832" y="2121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(HTTP/2)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 ↔ Go 내부</a:t>
            </a:r>
            <a:endParaRPr lang="en-US" sz="870" dirty="0"/>
          </a:p>
        </p:txBody>
      </p:sp>
      <p:sp>
        <p:nvSpPr>
          <p:cNvPr id="88" name="Shape 86"/>
          <p:cNvSpPr/>
          <p:nvPr/>
        </p:nvSpPr>
        <p:spPr>
          <a:xfrm>
            <a:off x="9628632" y="2692908"/>
            <a:ext cx="384048" cy="0"/>
          </a:xfrm>
          <a:prstGeom prst="line">
            <a:avLst/>
          </a:prstGeom>
          <a:noFill/>
          <a:ln w="38100">
            <a:solidFill>
              <a:srgbClr val="3B82C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085832" y="25374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edge·cside 경계</a:t>
            </a:r>
            <a:endParaRPr lang="en-US" sz="870" dirty="0"/>
          </a:p>
        </p:txBody>
      </p:sp>
      <p:sp>
        <p:nvSpPr>
          <p:cNvPr id="90" name="Shape 88"/>
          <p:cNvSpPr/>
          <p:nvPr/>
        </p:nvSpPr>
        <p:spPr>
          <a:xfrm>
            <a:off x="9628632" y="3108960"/>
            <a:ext cx="384048" cy="0"/>
          </a:xfrm>
          <a:prstGeom prst="line">
            <a:avLst/>
          </a:prstGeom>
          <a:noFill/>
          <a:ln w="38100">
            <a:solidFill>
              <a:srgbClr val="8B5C9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085832" y="2953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고객 fan-out</a:t>
            </a:r>
            <a:endParaRPr lang="en-US" sz="870" dirty="0"/>
          </a:p>
        </p:txBody>
      </p:sp>
      <p:sp>
        <p:nvSpPr>
          <p:cNvPr id="92" name="Shape 90"/>
          <p:cNvSpPr/>
          <p:nvPr/>
        </p:nvSpPr>
        <p:spPr>
          <a:xfrm>
            <a:off x="9628632" y="3525012"/>
            <a:ext cx="384048" cy="0"/>
          </a:xfrm>
          <a:prstGeom prst="line">
            <a:avLst/>
          </a:prstGeom>
          <a:noFill/>
          <a:ln w="38100">
            <a:solidFill>
              <a:srgbClr val="9A7B4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085832" y="33695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4.4 (TCP)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외부 카운터파티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9628632" y="3941064"/>
            <a:ext cx="384048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85832" y="37856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(pgx)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봉 저장/조회</a:t>
            </a:r>
            <a:endParaRPr lang="en-US" sz="870" dirty="0"/>
          </a:p>
        </p:txBody>
      </p:sp>
      <p:sp>
        <p:nvSpPr>
          <p:cNvPr id="96" name="Shape 94"/>
          <p:cNvSpPr/>
          <p:nvPr/>
        </p:nvSpPr>
        <p:spPr>
          <a:xfrm>
            <a:off x="9628632" y="4357116"/>
            <a:ext cx="38404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85832" y="42016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(RESP)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세션·cookie</a:t>
            </a:r>
            <a:endParaRPr lang="en-US" sz="870" dirty="0"/>
          </a:p>
        </p:txBody>
      </p:sp>
      <p:sp>
        <p:nvSpPr>
          <p:cNvPr id="98" name="Shape 96"/>
          <p:cNvSpPr/>
          <p:nvPr/>
        </p:nvSpPr>
        <p:spPr>
          <a:xfrm>
            <a:off x="9628632" y="4773168"/>
            <a:ext cx="384048" cy="0"/>
          </a:xfrm>
          <a:prstGeom prst="line">
            <a:avLst/>
          </a:prstGeom>
          <a:noFill/>
          <a:ln w="38100">
            <a:solidFill>
              <a:srgbClr val="D81B7A"/>
            </a:solidFill>
            <a:prstDash val="dash"/>
          </a:ln>
        </p:spPr>
      </p:sp>
      <p:sp>
        <p:nvSpPr>
          <p:cNvPr id="99" name="Text 97"/>
          <p:cNvSpPr/>
          <p:nvPr/>
        </p:nvSpPr>
        <p:spPr>
          <a:xfrm>
            <a:off x="10085832" y="46177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  (제안)  </a:t>
            </a:r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동일 호스트 algo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기술 인벤토리 — 구간별 정확한 매핑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5303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 기술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구간 (누가 → 누가)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 · 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FIX 4.4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피드 → quote-forwarder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무연결 브로드캐스트 수신, 커널 drop 회피 위해 reader/worker 분리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MyMQ wire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mci-api · price · push · admin · forwarder ↔ mymqd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 바이너리(100B mqhdr+length-prefix), ckey 멀티플렉싱, FANOUT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/ HTTP2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edge-price→price, edge-push→push, price→chart, etcd client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Go↔Go 내부 전용 — 스트리밍·deadline·LB·codegen 이득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외부→edge-api→mci-api, edge-chart 프록시, cside C SDK, HTTP push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termination·역프록시. C 경계는 raw socket+HTTP(외부 의존 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클라이언트 ↔ edge-price · edge-push · edge-chart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실시간 fan-out. 인스턴스당 cap 有 → 수평 확장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4.4 / TCP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B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FIX 카운터파티 → mci-edge-fix → /v1/tx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QuickFIX/Go 세션 종단, Logon 검증 후 alias 라우팅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mci-price(Archiver) INSERT · mci-chart(Repo) SELECT → TimescaleDB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pgx/v5. 봉만 영속(raw tick 미저장), 압축·retention 정책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(RESP)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mci-api · mci-push ↔ Redis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 + cookie_t 공유(멀티 인스턴스), 재시작 복구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SHM (제안)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1B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mci-price → 동일 호스트 C algo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mds식 μs 지연 복원. seqlock + ts staleness 가드 필수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tick은 저장하지 않고 conflation(심볼당 최신 1건)으로 전달 — 자세한 근거는 별도 논의 참조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원칙 — 경계마다 맞는 도구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gRPC를 전 구간에 강요하지 않는다. C가 만지는 경계엔 raw socket · HTTP · SHM만 노출한다.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828800"/>
          </a:xfrm>
          <a:prstGeom prst="roundRect">
            <a:avLst>
              <a:gd name="adj" fmla="val 2500"/>
            </a:avLst>
          </a:prstGeom>
          <a:solidFill>
            <a:srgbClr val="26313F"/>
          </a:solidFill>
          <a:ln w="12700">
            <a:solidFill>
              <a:srgbClr val="3A475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201168" cy="2011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075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↔ Go 내부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(HTTP/2)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스트리밍·deadline·클라이언트 LB·codegen이 실제로 이득. mci-edge ↔ internal, price ↔ chart.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37960" y="1874520"/>
            <a:ext cx="5440680" cy="1828800"/>
          </a:xfrm>
          <a:prstGeom prst="roundRect">
            <a:avLst>
              <a:gd name="adj" fmla="val 2500"/>
            </a:avLst>
          </a:prstGeom>
          <a:solidFill>
            <a:srgbClr val="26313F"/>
          </a:solidFill>
          <a:ln w="12700">
            <a:solidFill>
              <a:srgbClr val="3A475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93992" y="2167128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1" name="Text 9"/>
          <p:cNvSpPr/>
          <p:nvPr/>
        </p:nvSpPr>
        <p:spPr>
          <a:xfrm>
            <a:off x="7104888" y="2075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↔ 시스템 경계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532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socket · HTTP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289864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cside SDK는 POSIX 소켓+외부 의존 0. protobuf·C++ 링크 강요 없음. broker(mymq) 의존 제거.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1828800"/>
          </a:xfrm>
          <a:prstGeom prst="roundRect">
            <a:avLst>
              <a:gd name="adj" fmla="val 2500"/>
            </a:avLst>
          </a:prstGeom>
          <a:solidFill>
            <a:srgbClr val="26313F"/>
          </a:solidFill>
          <a:ln w="12700">
            <a:solidFill>
              <a:srgbClr val="3A475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315968"/>
            <a:ext cx="201168" cy="201168"/>
          </a:xfrm>
          <a:prstGeom prst="ellipse">
            <a:avLst/>
          </a:prstGeom>
          <a:solidFill>
            <a:srgbClr val="D81B7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2245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호스트 algo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 (제안)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04748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네트워크·직렬화 우회 μs 지연. conflation은 공짜, 대신 ts 기반 staleness kill-switch 필수.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4023360"/>
            <a:ext cx="5440680" cy="1828800"/>
          </a:xfrm>
          <a:prstGeom prst="roundRect">
            <a:avLst>
              <a:gd name="adj" fmla="val 2500"/>
            </a:avLst>
          </a:prstGeom>
          <a:solidFill>
            <a:srgbClr val="26313F"/>
          </a:solidFill>
          <a:ln w="12700">
            <a:solidFill>
              <a:srgbClr val="3A475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93992" y="4315968"/>
            <a:ext cx="201168" cy="20116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2245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대량 수신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46817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→ broker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504748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피드는 UDP, 내부 배포는 MyMQ FANOUT broadcast. 고객단만 WebSocket fan-out.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WTG 프로세스 간 통신 전체 그림</dc:title>
  <dc:subject>PptxGenJS Presentation</dc:subject>
  <dc:creator>WTG</dc:creator>
  <cp:lastModifiedBy>WTG</cp:lastModifiedBy>
  <cp:revision>1</cp:revision>
  <dcterms:created xsi:type="dcterms:W3CDTF">2026-07-03T04:07:11Z</dcterms:created>
  <dcterms:modified xsi:type="dcterms:W3CDTF">2026-07-03T04:07:11Z</dcterms:modified>
</cp:coreProperties>
</file>