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</p:sldIdLst>
  <p:notesMasterIdLst>
    <p:notesMasterId r:id="rId5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notesMaster" Target="notesMasters/notesMaster1.xml"/><Relationship Id="rId6" Type="http://schemas.openxmlformats.org/officeDocument/2006/relationships/presProps" Target="presProps.xml"/><Relationship Id="rId7" Type="http://schemas.openxmlformats.org/officeDocument/2006/relationships/viewProps" Target="viewProps.xml"/><Relationship Id="rId8" Type="http://schemas.openxmlformats.org/officeDocument/2006/relationships/theme" Target="theme/theme1.xml"/><Relationship Id="rId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B243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058400" y="-1280160"/>
            <a:ext cx="3291840" cy="3291840"/>
          </a:xfrm>
          <a:prstGeom prst="ellipse">
            <a:avLst/>
          </a:prstGeom>
          <a:solidFill>
            <a:srgbClr val="0E7C86">
              <a:alpha val="18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-1005840" y="4754880"/>
            <a:ext cx="2926080" cy="2926080"/>
          </a:xfrm>
          <a:prstGeom prst="ellipse">
            <a:avLst/>
          </a:prstGeom>
          <a:solidFill>
            <a:srgbClr val="0E7C86">
              <a:alpha val="12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822960" y="128016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spc="200" kern="0" dirty="0">
                <a:solidFill>
                  <a:srgbClr val="0E7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WTG · 목표 모델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777240" y="1783080"/>
            <a:ext cx="107899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broker는 mci-api 전용 · Redis 미사용</a:t>
            </a:r>
            <a:endParaRPr lang="en-US" sz="3600" dirty="0"/>
          </a:p>
        </p:txBody>
      </p:sp>
      <p:sp>
        <p:nvSpPr>
          <p:cNvPr id="6" name="Text 4"/>
          <p:cNvSpPr/>
          <p:nvPr/>
        </p:nvSpPr>
        <p:spPr>
          <a:xfrm>
            <a:off x="822960" y="2788920"/>
            <a:ext cx="10515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CBD5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나머지 서비스는 broker 없이 — 시세·push는 HTTP 우회, 세션은 in-memory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822960" y="3886200"/>
            <a:ext cx="10515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AA7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broker 부하·SIGABRT 회피 + 운영 C 코드 mymq 의존 제거 방향의 극단 단순화안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74320" y="164592"/>
            <a:ext cx="11612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B243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목표 통신 지도 — broker는 mci-api 하나만, Redis 제거</a:t>
            </a:r>
            <a:endParaRPr lang="en-US" sz="2000" dirty="0"/>
          </a:p>
        </p:txBody>
      </p:sp>
      <p:sp>
        <p:nvSpPr>
          <p:cNvPr id="3" name="Shape 1"/>
          <p:cNvSpPr/>
          <p:nvPr/>
        </p:nvSpPr>
        <p:spPr>
          <a:xfrm>
            <a:off x="2103120" y="1097280"/>
            <a:ext cx="2587752" cy="0"/>
          </a:xfrm>
          <a:prstGeom prst="line">
            <a:avLst/>
          </a:prstGeom>
          <a:noFill/>
          <a:ln w="24130">
            <a:solidFill>
              <a:srgbClr val="E8833A"/>
            </a:solidFill>
            <a:prstDash val="solid"/>
            <a:tailEnd type="triangle"/>
          </a:ln>
        </p:spPr>
      </p:sp>
      <p:sp>
        <p:nvSpPr>
          <p:cNvPr id="4" name="Shape 2"/>
          <p:cNvSpPr/>
          <p:nvPr/>
        </p:nvSpPr>
        <p:spPr>
          <a:xfrm>
            <a:off x="2103120" y="1645920"/>
            <a:ext cx="411480" cy="0"/>
          </a:xfrm>
          <a:prstGeom prst="line">
            <a:avLst/>
          </a:prstGeom>
          <a:noFill/>
          <a:ln w="24130">
            <a:solidFill>
              <a:srgbClr val="3B82C4"/>
            </a:solidFill>
            <a:prstDash val="solid"/>
            <a:tailEnd type="triangle"/>
          </a:ln>
        </p:spPr>
      </p:sp>
      <p:sp>
        <p:nvSpPr>
          <p:cNvPr id="5" name="Shape 3"/>
          <p:cNvSpPr/>
          <p:nvPr/>
        </p:nvSpPr>
        <p:spPr>
          <a:xfrm>
            <a:off x="2103120" y="2194560"/>
            <a:ext cx="411480" cy="0"/>
          </a:xfrm>
          <a:prstGeom prst="line">
            <a:avLst/>
          </a:prstGeom>
          <a:noFill/>
          <a:ln w="24130">
            <a:solidFill>
              <a:srgbClr val="8B5C9E"/>
            </a:solidFill>
            <a:prstDash val="solid"/>
            <a:tailEnd type="triangle"/>
          </a:ln>
        </p:spPr>
      </p:sp>
      <p:sp>
        <p:nvSpPr>
          <p:cNvPr id="6" name="Shape 4"/>
          <p:cNvSpPr/>
          <p:nvPr/>
        </p:nvSpPr>
        <p:spPr>
          <a:xfrm>
            <a:off x="2103120" y="2743200"/>
            <a:ext cx="411480" cy="0"/>
          </a:xfrm>
          <a:prstGeom prst="line">
            <a:avLst/>
          </a:prstGeom>
          <a:noFill/>
          <a:ln w="24130">
            <a:solidFill>
              <a:srgbClr val="8B5C9E"/>
            </a:solidFill>
            <a:prstDash val="solid"/>
            <a:tailEnd type="triangle"/>
          </a:ln>
        </p:spPr>
      </p:sp>
      <p:sp>
        <p:nvSpPr>
          <p:cNvPr id="7" name="Shape 5"/>
          <p:cNvSpPr/>
          <p:nvPr/>
        </p:nvSpPr>
        <p:spPr>
          <a:xfrm>
            <a:off x="2103120" y="3291840"/>
            <a:ext cx="411480" cy="0"/>
          </a:xfrm>
          <a:prstGeom prst="line">
            <a:avLst/>
          </a:prstGeom>
          <a:noFill/>
          <a:ln w="24130">
            <a:solidFill>
              <a:srgbClr val="8B5C9E"/>
            </a:solidFill>
            <a:prstDash val="solid"/>
            <a:tailEnd type="triangle"/>
          </a:ln>
        </p:spPr>
      </p:sp>
      <p:sp>
        <p:nvSpPr>
          <p:cNvPr id="8" name="Shape 6"/>
          <p:cNvSpPr/>
          <p:nvPr/>
        </p:nvSpPr>
        <p:spPr>
          <a:xfrm>
            <a:off x="2103120" y="3840480"/>
            <a:ext cx="411480" cy="0"/>
          </a:xfrm>
          <a:prstGeom prst="line">
            <a:avLst/>
          </a:prstGeom>
          <a:noFill/>
          <a:ln w="24130">
            <a:solidFill>
              <a:srgbClr val="9A7B4F"/>
            </a:solidFill>
            <a:prstDash val="solid"/>
            <a:tailEnd type="triangle"/>
          </a:ln>
        </p:spPr>
      </p:sp>
      <p:sp>
        <p:nvSpPr>
          <p:cNvPr id="9" name="Shape 7"/>
          <p:cNvSpPr/>
          <p:nvPr/>
        </p:nvSpPr>
        <p:spPr>
          <a:xfrm>
            <a:off x="4343400" y="1645920"/>
            <a:ext cx="365760" cy="0"/>
          </a:xfrm>
          <a:prstGeom prst="line">
            <a:avLst/>
          </a:prstGeom>
          <a:noFill/>
          <a:ln w="24130">
            <a:solidFill>
              <a:srgbClr val="3B82C4"/>
            </a:solidFill>
            <a:prstDash val="solid"/>
            <a:tailEnd type="triangle"/>
          </a:ln>
        </p:spPr>
      </p:sp>
      <p:sp>
        <p:nvSpPr>
          <p:cNvPr id="10" name="Shape 8"/>
          <p:cNvSpPr/>
          <p:nvPr/>
        </p:nvSpPr>
        <p:spPr>
          <a:xfrm>
            <a:off x="4343400" y="2194560"/>
            <a:ext cx="365760" cy="0"/>
          </a:xfrm>
          <a:prstGeom prst="line">
            <a:avLst/>
          </a:prstGeom>
          <a:noFill/>
          <a:ln w="24130">
            <a:solidFill>
              <a:srgbClr val="0E7C86"/>
            </a:solidFill>
            <a:prstDash val="solid"/>
            <a:tailEnd type="triangle"/>
          </a:ln>
        </p:spPr>
      </p:sp>
      <p:sp>
        <p:nvSpPr>
          <p:cNvPr id="11" name="Shape 9"/>
          <p:cNvSpPr/>
          <p:nvPr/>
        </p:nvSpPr>
        <p:spPr>
          <a:xfrm>
            <a:off x="4343400" y="2743200"/>
            <a:ext cx="365760" cy="0"/>
          </a:xfrm>
          <a:prstGeom prst="line">
            <a:avLst/>
          </a:prstGeom>
          <a:noFill/>
          <a:ln w="24130">
            <a:solidFill>
              <a:srgbClr val="0E7C86"/>
            </a:solidFill>
            <a:prstDash val="solid"/>
            <a:tailEnd type="triangle"/>
          </a:ln>
        </p:spPr>
      </p:sp>
      <p:sp>
        <p:nvSpPr>
          <p:cNvPr id="12" name="Shape 10"/>
          <p:cNvSpPr/>
          <p:nvPr/>
        </p:nvSpPr>
        <p:spPr>
          <a:xfrm>
            <a:off x="4343400" y="3291840"/>
            <a:ext cx="365760" cy="0"/>
          </a:xfrm>
          <a:prstGeom prst="line">
            <a:avLst/>
          </a:prstGeom>
          <a:noFill/>
          <a:ln w="24130">
            <a:solidFill>
              <a:srgbClr val="3B82C4"/>
            </a:solidFill>
            <a:prstDash val="solid"/>
            <a:tailEnd type="triangle"/>
          </a:ln>
        </p:spPr>
      </p:sp>
      <p:sp>
        <p:nvSpPr>
          <p:cNvPr id="13" name="Shape 11"/>
          <p:cNvSpPr/>
          <p:nvPr/>
        </p:nvSpPr>
        <p:spPr>
          <a:xfrm flipV="1">
            <a:off x="4343400" y="1645920"/>
            <a:ext cx="365760" cy="2194560"/>
          </a:xfrm>
          <a:prstGeom prst="line">
            <a:avLst/>
          </a:prstGeom>
          <a:noFill/>
          <a:ln w="24130">
            <a:solidFill>
              <a:srgbClr val="3B82C4"/>
            </a:solidFill>
            <a:prstDash val="solid"/>
            <a:tailEnd type="triangle"/>
          </a:ln>
        </p:spPr>
      </p:sp>
      <p:sp>
        <p:nvSpPr>
          <p:cNvPr id="14" name="Shape 12"/>
          <p:cNvSpPr/>
          <p:nvPr/>
        </p:nvSpPr>
        <p:spPr>
          <a:xfrm>
            <a:off x="4626864" y="1097280"/>
            <a:ext cx="0" cy="1097280"/>
          </a:xfrm>
          <a:prstGeom prst="line">
            <a:avLst/>
          </a:prstGeom>
          <a:noFill/>
          <a:ln w="24130">
            <a:solidFill>
              <a:srgbClr val="3B82C4"/>
            </a:solidFill>
            <a:prstDash val="solid"/>
            <a:tailEnd type="triangle"/>
          </a:ln>
        </p:spPr>
      </p:sp>
      <p:sp>
        <p:nvSpPr>
          <p:cNvPr id="15" name="Shape 13"/>
          <p:cNvSpPr/>
          <p:nvPr/>
        </p:nvSpPr>
        <p:spPr>
          <a:xfrm>
            <a:off x="4736592" y="2194560"/>
            <a:ext cx="0" cy="1097280"/>
          </a:xfrm>
          <a:prstGeom prst="line">
            <a:avLst/>
          </a:prstGeom>
          <a:noFill/>
          <a:ln w="24130">
            <a:solidFill>
              <a:srgbClr val="0E7C86"/>
            </a:solidFill>
            <a:prstDash val="solid"/>
            <a:tailEnd type="triangle"/>
          </a:ln>
        </p:spPr>
      </p:sp>
      <p:sp>
        <p:nvSpPr>
          <p:cNvPr id="16" name="Shape 14"/>
          <p:cNvSpPr/>
          <p:nvPr/>
        </p:nvSpPr>
        <p:spPr>
          <a:xfrm flipV="1">
            <a:off x="6537960" y="1417320"/>
            <a:ext cx="548640" cy="228600"/>
          </a:xfrm>
          <a:prstGeom prst="line">
            <a:avLst/>
          </a:prstGeom>
          <a:noFill/>
          <a:ln w="24130">
            <a:solidFill>
              <a:srgbClr val="1E3A8A"/>
            </a:solidFill>
            <a:prstDash val="solid"/>
            <a:tailEnd type="triangle"/>
          </a:ln>
        </p:spPr>
      </p:sp>
      <p:sp>
        <p:nvSpPr>
          <p:cNvPr id="17" name="Shape 15"/>
          <p:cNvSpPr/>
          <p:nvPr/>
        </p:nvSpPr>
        <p:spPr>
          <a:xfrm>
            <a:off x="8001000" y="1645920"/>
            <a:ext cx="0" cy="137160"/>
          </a:xfrm>
          <a:prstGeom prst="line">
            <a:avLst/>
          </a:prstGeom>
          <a:noFill/>
          <a:ln w="24130">
            <a:solidFill>
              <a:srgbClr val="1E3A8A"/>
            </a:solidFill>
            <a:prstDash val="solid"/>
            <a:tailEnd type="triangle"/>
          </a:ln>
        </p:spPr>
      </p:sp>
      <p:sp>
        <p:nvSpPr>
          <p:cNvPr id="18" name="Shape 16"/>
          <p:cNvSpPr/>
          <p:nvPr/>
        </p:nvSpPr>
        <p:spPr>
          <a:xfrm flipV="1">
            <a:off x="6537960" y="2926080"/>
            <a:ext cx="548640" cy="914400"/>
          </a:xfrm>
          <a:prstGeom prst="line">
            <a:avLst/>
          </a:prstGeom>
          <a:noFill/>
          <a:ln w="24130">
            <a:solidFill>
              <a:srgbClr val="0E7C86"/>
            </a:solidFill>
            <a:prstDash val="solid"/>
            <a:tailEnd type="triangle"/>
          </a:ln>
        </p:spPr>
      </p:sp>
      <p:sp>
        <p:nvSpPr>
          <p:cNvPr id="19" name="Shape 17"/>
          <p:cNvSpPr/>
          <p:nvPr/>
        </p:nvSpPr>
        <p:spPr>
          <a:xfrm>
            <a:off x="6537960" y="2194560"/>
            <a:ext cx="548640" cy="731520"/>
          </a:xfrm>
          <a:prstGeom prst="line">
            <a:avLst/>
          </a:prstGeom>
          <a:noFill/>
          <a:ln w="24130">
            <a:solidFill>
              <a:srgbClr val="0E7C86"/>
            </a:solidFill>
            <a:prstDash val="solid"/>
            <a:tailEnd type="triangle"/>
          </a:ln>
        </p:spPr>
      </p:sp>
      <p:sp>
        <p:nvSpPr>
          <p:cNvPr id="20" name="Shape 18"/>
          <p:cNvSpPr/>
          <p:nvPr/>
        </p:nvSpPr>
        <p:spPr>
          <a:xfrm>
            <a:off x="6537960" y="2194560"/>
            <a:ext cx="548640" cy="1554480"/>
          </a:xfrm>
          <a:prstGeom prst="line">
            <a:avLst/>
          </a:prstGeom>
          <a:noFill/>
          <a:ln w="24130">
            <a:solidFill>
              <a:srgbClr val="2E8B57"/>
            </a:solidFill>
            <a:prstDash val="solid"/>
            <a:tailEnd type="triangle"/>
          </a:ln>
        </p:spPr>
      </p:sp>
      <p:sp>
        <p:nvSpPr>
          <p:cNvPr id="21" name="Shape 19"/>
          <p:cNvSpPr/>
          <p:nvPr/>
        </p:nvSpPr>
        <p:spPr>
          <a:xfrm>
            <a:off x="6537960" y="3291840"/>
            <a:ext cx="548640" cy="457200"/>
          </a:xfrm>
          <a:prstGeom prst="line">
            <a:avLst/>
          </a:prstGeom>
          <a:noFill/>
          <a:ln w="24130">
            <a:solidFill>
              <a:srgbClr val="2E8B57"/>
            </a:solidFill>
            <a:prstDash val="solid"/>
            <a:tailEnd type="triangle"/>
          </a:ln>
        </p:spPr>
      </p:sp>
      <p:sp>
        <p:nvSpPr>
          <p:cNvPr id="22" name="Shape 20"/>
          <p:cNvSpPr/>
          <p:nvPr/>
        </p:nvSpPr>
        <p:spPr>
          <a:xfrm>
            <a:off x="274320" y="868680"/>
            <a:ext cx="1828800" cy="457200"/>
          </a:xfrm>
          <a:prstGeom prst="roundRect">
            <a:avLst>
              <a:gd name="adj" fmla="val 12000"/>
            </a:avLst>
          </a:prstGeom>
          <a:solidFill>
            <a:srgbClr val="F4F6F8"/>
          </a:solidFill>
          <a:ln w="12700">
            <a:solidFill>
              <a:srgbClr val="C3CCD6"/>
            </a:solidFill>
            <a:prstDash val="solid"/>
          </a:ln>
          <a:effectLst>
            <a:outerShdw sx="100000" sy="100000" kx="0" ky="0" algn="bl" rotWithShape="0" blurRad="63500" dist="25400" dir="5400000">
              <a:srgbClr val="000000">
                <a:alpha val="12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274320" y="868680"/>
            <a:ext cx="1828800" cy="457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B24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시장 피드</a:t>
            </a:r>
            <a:endParaRPr lang="en-US" sz="950" dirty="0"/>
          </a:p>
          <a:p>
            <a:pPr algn="ctr" indent="0" marL="0">
              <a:buNone/>
            </a:pPr>
            <a:r>
              <a:rPr lang="en-US" sz="7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SMB/KMB/EBS/Reuters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274320" y="1417320"/>
            <a:ext cx="1828800" cy="457200"/>
          </a:xfrm>
          <a:prstGeom prst="roundRect">
            <a:avLst>
              <a:gd name="adj" fmla="val 12000"/>
            </a:avLst>
          </a:prstGeom>
          <a:solidFill>
            <a:srgbClr val="F4F6F8"/>
          </a:solidFill>
          <a:ln w="12700">
            <a:solidFill>
              <a:srgbClr val="C3CCD6"/>
            </a:solidFill>
            <a:prstDash val="solid"/>
          </a:ln>
          <a:effectLst>
            <a:outerShdw sx="100000" sy="100000" kx="0" ky="0" algn="bl" rotWithShape="0" blurRad="63500" dist="25400" dir="5400000">
              <a:srgbClr val="000000">
                <a:alpha val="12000"/>
              </a:srgbClr>
            </a:outerShdw>
          </a:effectLst>
        </p:spPr>
      </p:sp>
      <p:sp>
        <p:nvSpPr>
          <p:cNvPr id="25" name="Text 23"/>
          <p:cNvSpPr/>
          <p:nvPr/>
        </p:nvSpPr>
        <p:spPr>
          <a:xfrm>
            <a:off x="274320" y="1417320"/>
            <a:ext cx="1828800" cy="457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B24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웹 / REST 클라이언트</a:t>
            </a:r>
            <a:endParaRPr lang="en-US" sz="950" dirty="0"/>
          </a:p>
        </p:txBody>
      </p:sp>
      <p:sp>
        <p:nvSpPr>
          <p:cNvPr id="26" name="Shape 24"/>
          <p:cNvSpPr/>
          <p:nvPr/>
        </p:nvSpPr>
        <p:spPr>
          <a:xfrm>
            <a:off x="274320" y="1965960"/>
            <a:ext cx="1828800" cy="457200"/>
          </a:xfrm>
          <a:prstGeom prst="roundRect">
            <a:avLst>
              <a:gd name="adj" fmla="val 12000"/>
            </a:avLst>
          </a:prstGeom>
          <a:solidFill>
            <a:srgbClr val="F4F6F8"/>
          </a:solidFill>
          <a:ln w="12700">
            <a:solidFill>
              <a:srgbClr val="C3CCD6"/>
            </a:solidFill>
            <a:prstDash val="solid"/>
          </a:ln>
          <a:effectLst>
            <a:outerShdw sx="100000" sy="100000" kx="0" ky="0" algn="bl" rotWithShape="0" blurRad="63500" dist="25400" dir="5400000">
              <a:srgbClr val="000000">
                <a:alpha val="12000"/>
              </a:srgbClr>
            </a:outerShdw>
          </a:effectLst>
        </p:spPr>
      </p:sp>
      <p:sp>
        <p:nvSpPr>
          <p:cNvPr id="27" name="Text 25"/>
          <p:cNvSpPr/>
          <p:nvPr/>
        </p:nvSpPr>
        <p:spPr>
          <a:xfrm>
            <a:off x="274320" y="1965960"/>
            <a:ext cx="1828800" cy="457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B24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시세 WS 클라이언트</a:t>
            </a:r>
            <a:endParaRPr lang="en-US" sz="950" dirty="0"/>
          </a:p>
        </p:txBody>
      </p:sp>
      <p:sp>
        <p:nvSpPr>
          <p:cNvPr id="28" name="Shape 26"/>
          <p:cNvSpPr/>
          <p:nvPr/>
        </p:nvSpPr>
        <p:spPr>
          <a:xfrm>
            <a:off x="274320" y="2514600"/>
            <a:ext cx="1828800" cy="457200"/>
          </a:xfrm>
          <a:prstGeom prst="roundRect">
            <a:avLst>
              <a:gd name="adj" fmla="val 12000"/>
            </a:avLst>
          </a:prstGeom>
          <a:solidFill>
            <a:srgbClr val="F4F6F8"/>
          </a:solidFill>
          <a:ln w="12700">
            <a:solidFill>
              <a:srgbClr val="C3CCD6"/>
            </a:solidFill>
            <a:prstDash val="solid"/>
          </a:ln>
          <a:effectLst>
            <a:outerShdw sx="100000" sy="100000" kx="0" ky="0" algn="bl" rotWithShape="0" blurRad="63500" dist="25400" dir="5400000">
              <a:srgbClr val="000000">
                <a:alpha val="12000"/>
              </a:srgbClr>
            </a:outerShdw>
          </a:effectLst>
        </p:spPr>
      </p:sp>
      <p:sp>
        <p:nvSpPr>
          <p:cNvPr id="29" name="Text 27"/>
          <p:cNvSpPr/>
          <p:nvPr/>
        </p:nvSpPr>
        <p:spPr>
          <a:xfrm>
            <a:off x="274320" y="2514600"/>
            <a:ext cx="1828800" cy="457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B24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푸시 WS 클라이언트</a:t>
            </a:r>
            <a:endParaRPr lang="en-US" sz="950" dirty="0"/>
          </a:p>
        </p:txBody>
      </p:sp>
      <p:sp>
        <p:nvSpPr>
          <p:cNvPr id="30" name="Shape 28"/>
          <p:cNvSpPr/>
          <p:nvPr/>
        </p:nvSpPr>
        <p:spPr>
          <a:xfrm>
            <a:off x="274320" y="3063240"/>
            <a:ext cx="1828800" cy="457200"/>
          </a:xfrm>
          <a:prstGeom prst="roundRect">
            <a:avLst>
              <a:gd name="adj" fmla="val 12000"/>
            </a:avLst>
          </a:prstGeom>
          <a:solidFill>
            <a:srgbClr val="F4F6F8"/>
          </a:solidFill>
          <a:ln w="12700">
            <a:solidFill>
              <a:srgbClr val="C3CCD6"/>
            </a:solidFill>
            <a:prstDash val="solid"/>
          </a:ln>
          <a:effectLst>
            <a:outerShdw sx="100000" sy="100000" kx="0" ky="0" algn="bl" rotWithShape="0" blurRad="63500" dist="25400" dir="5400000">
              <a:srgbClr val="000000">
                <a:alpha val="12000"/>
              </a:srgbClr>
            </a:outerShdw>
          </a:effectLst>
        </p:spPr>
      </p:sp>
      <p:sp>
        <p:nvSpPr>
          <p:cNvPr id="31" name="Text 29"/>
          <p:cNvSpPr/>
          <p:nvPr/>
        </p:nvSpPr>
        <p:spPr>
          <a:xfrm>
            <a:off x="274320" y="3063240"/>
            <a:ext cx="1828800" cy="457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B24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챠트 WS 클라이언트</a:t>
            </a:r>
            <a:endParaRPr lang="en-US" sz="950" dirty="0"/>
          </a:p>
        </p:txBody>
      </p:sp>
      <p:sp>
        <p:nvSpPr>
          <p:cNvPr id="32" name="Shape 30"/>
          <p:cNvSpPr/>
          <p:nvPr/>
        </p:nvSpPr>
        <p:spPr>
          <a:xfrm>
            <a:off x="274320" y="3611880"/>
            <a:ext cx="1828800" cy="457200"/>
          </a:xfrm>
          <a:prstGeom prst="roundRect">
            <a:avLst>
              <a:gd name="adj" fmla="val 12000"/>
            </a:avLst>
          </a:prstGeom>
          <a:solidFill>
            <a:srgbClr val="F4F6F8"/>
          </a:solidFill>
          <a:ln w="12700">
            <a:solidFill>
              <a:srgbClr val="C3CCD6"/>
            </a:solidFill>
            <a:prstDash val="solid"/>
          </a:ln>
          <a:effectLst>
            <a:outerShdw sx="100000" sy="100000" kx="0" ky="0" algn="bl" rotWithShape="0" blurRad="63500" dist="25400" dir="5400000">
              <a:srgbClr val="000000">
                <a:alpha val="12000"/>
              </a:srgbClr>
            </a:outerShdw>
          </a:effectLst>
        </p:spPr>
      </p:sp>
      <p:sp>
        <p:nvSpPr>
          <p:cNvPr id="33" name="Text 31"/>
          <p:cNvSpPr/>
          <p:nvPr/>
        </p:nvSpPr>
        <p:spPr>
          <a:xfrm>
            <a:off x="274320" y="3611880"/>
            <a:ext cx="1828800" cy="457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B24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외부 FIX 카운터파티</a:t>
            </a:r>
            <a:endParaRPr lang="en-US" sz="950" dirty="0"/>
          </a:p>
        </p:txBody>
      </p:sp>
      <p:sp>
        <p:nvSpPr>
          <p:cNvPr id="34" name="Shape 32"/>
          <p:cNvSpPr/>
          <p:nvPr/>
        </p:nvSpPr>
        <p:spPr>
          <a:xfrm>
            <a:off x="2514600" y="1417320"/>
            <a:ext cx="1828800" cy="457200"/>
          </a:xfrm>
          <a:prstGeom prst="roundRect">
            <a:avLst>
              <a:gd name="adj" fmla="val 12000"/>
            </a:avLst>
          </a:prstGeom>
          <a:solidFill>
            <a:srgbClr val="F4F6F8"/>
          </a:solidFill>
          <a:ln w="12700">
            <a:solidFill>
              <a:srgbClr val="C3CCD6"/>
            </a:solidFill>
            <a:prstDash val="solid"/>
          </a:ln>
          <a:effectLst>
            <a:outerShdw sx="100000" sy="100000" kx="0" ky="0" algn="bl" rotWithShape="0" blurRad="63500" dist="25400" dir="5400000">
              <a:srgbClr val="000000">
                <a:alpha val="12000"/>
              </a:srgbClr>
            </a:outerShdw>
          </a:effectLst>
        </p:spPr>
      </p:sp>
      <p:sp>
        <p:nvSpPr>
          <p:cNvPr id="35" name="Text 33"/>
          <p:cNvSpPr/>
          <p:nvPr/>
        </p:nvSpPr>
        <p:spPr>
          <a:xfrm>
            <a:off x="2514600" y="1417320"/>
            <a:ext cx="1828800" cy="457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B24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mci-edge-api</a:t>
            </a:r>
            <a:endParaRPr lang="en-US" sz="950" dirty="0"/>
          </a:p>
          <a:p>
            <a:pPr algn="ctr" indent="0" marL="0">
              <a:buNone/>
            </a:pPr>
            <a:r>
              <a:rPr lang="en-US" sz="7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:8090</a:t>
            </a:r>
            <a:endParaRPr lang="en-US" sz="950" dirty="0"/>
          </a:p>
        </p:txBody>
      </p:sp>
      <p:sp>
        <p:nvSpPr>
          <p:cNvPr id="36" name="Shape 34"/>
          <p:cNvSpPr/>
          <p:nvPr/>
        </p:nvSpPr>
        <p:spPr>
          <a:xfrm>
            <a:off x="2514600" y="1965960"/>
            <a:ext cx="1828800" cy="457200"/>
          </a:xfrm>
          <a:prstGeom prst="roundRect">
            <a:avLst>
              <a:gd name="adj" fmla="val 12000"/>
            </a:avLst>
          </a:prstGeom>
          <a:solidFill>
            <a:srgbClr val="F4F6F8"/>
          </a:solidFill>
          <a:ln w="12700">
            <a:solidFill>
              <a:srgbClr val="C3CCD6"/>
            </a:solidFill>
            <a:prstDash val="solid"/>
          </a:ln>
          <a:effectLst>
            <a:outerShdw sx="100000" sy="100000" kx="0" ky="0" algn="bl" rotWithShape="0" blurRad="63500" dist="25400" dir="5400000">
              <a:srgbClr val="000000">
                <a:alpha val="12000"/>
              </a:srgbClr>
            </a:outerShdw>
          </a:effectLst>
        </p:spPr>
      </p:sp>
      <p:sp>
        <p:nvSpPr>
          <p:cNvPr id="37" name="Text 35"/>
          <p:cNvSpPr/>
          <p:nvPr/>
        </p:nvSpPr>
        <p:spPr>
          <a:xfrm>
            <a:off x="2514600" y="1965960"/>
            <a:ext cx="1828800" cy="457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B24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mci-edge-price</a:t>
            </a:r>
            <a:endParaRPr lang="en-US" sz="950" dirty="0"/>
          </a:p>
          <a:p>
            <a:pPr algn="ctr" indent="0" marL="0">
              <a:buNone/>
            </a:pPr>
            <a:r>
              <a:rPr lang="en-US" sz="7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:8083</a:t>
            </a:r>
            <a:endParaRPr lang="en-US" sz="950" dirty="0"/>
          </a:p>
        </p:txBody>
      </p:sp>
      <p:sp>
        <p:nvSpPr>
          <p:cNvPr id="38" name="Shape 36"/>
          <p:cNvSpPr/>
          <p:nvPr/>
        </p:nvSpPr>
        <p:spPr>
          <a:xfrm>
            <a:off x="2514600" y="2514600"/>
            <a:ext cx="1828800" cy="457200"/>
          </a:xfrm>
          <a:prstGeom prst="roundRect">
            <a:avLst>
              <a:gd name="adj" fmla="val 12000"/>
            </a:avLst>
          </a:prstGeom>
          <a:solidFill>
            <a:srgbClr val="F4F6F8"/>
          </a:solidFill>
          <a:ln w="12700">
            <a:solidFill>
              <a:srgbClr val="C3CCD6"/>
            </a:solidFill>
            <a:prstDash val="solid"/>
          </a:ln>
          <a:effectLst>
            <a:outerShdw sx="100000" sy="100000" kx="0" ky="0" algn="bl" rotWithShape="0" blurRad="63500" dist="25400" dir="5400000">
              <a:srgbClr val="000000">
                <a:alpha val="12000"/>
              </a:srgbClr>
            </a:outerShdw>
          </a:effectLst>
        </p:spPr>
      </p:sp>
      <p:sp>
        <p:nvSpPr>
          <p:cNvPr id="39" name="Text 37"/>
          <p:cNvSpPr/>
          <p:nvPr/>
        </p:nvSpPr>
        <p:spPr>
          <a:xfrm>
            <a:off x="2514600" y="2514600"/>
            <a:ext cx="1828800" cy="457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B24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mci-edge-push</a:t>
            </a:r>
            <a:endParaRPr lang="en-US" sz="950" dirty="0"/>
          </a:p>
          <a:p>
            <a:pPr algn="ctr" indent="0" marL="0">
              <a:buNone/>
            </a:pPr>
            <a:r>
              <a:rPr lang="en-US" sz="7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:8084</a:t>
            </a:r>
            <a:endParaRPr lang="en-US" sz="950" dirty="0"/>
          </a:p>
        </p:txBody>
      </p:sp>
      <p:sp>
        <p:nvSpPr>
          <p:cNvPr id="40" name="Shape 38"/>
          <p:cNvSpPr/>
          <p:nvPr/>
        </p:nvSpPr>
        <p:spPr>
          <a:xfrm>
            <a:off x="2514600" y="3063240"/>
            <a:ext cx="1828800" cy="457200"/>
          </a:xfrm>
          <a:prstGeom prst="roundRect">
            <a:avLst>
              <a:gd name="adj" fmla="val 12000"/>
            </a:avLst>
          </a:prstGeom>
          <a:solidFill>
            <a:srgbClr val="F4F6F8"/>
          </a:solidFill>
          <a:ln w="12700">
            <a:solidFill>
              <a:srgbClr val="C3CCD6"/>
            </a:solidFill>
            <a:prstDash val="solid"/>
          </a:ln>
          <a:effectLst>
            <a:outerShdw sx="100000" sy="100000" kx="0" ky="0" algn="bl" rotWithShape="0" blurRad="63500" dist="25400" dir="5400000">
              <a:srgbClr val="000000">
                <a:alpha val="12000"/>
              </a:srgbClr>
            </a:outerShdw>
          </a:effectLst>
        </p:spPr>
      </p:sp>
      <p:sp>
        <p:nvSpPr>
          <p:cNvPr id="41" name="Text 39"/>
          <p:cNvSpPr/>
          <p:nvPr/>
        </p:nvSpPr>
        <p:spPr>
          <a:xfrm>
            <a:off x="2514600" y="3063240"/>
            <a:ext cx="1828800" cy="457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B24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mci-edge-chart</a:t>
            </a:r>
            <a:endParaRPr lang="en-US" sz="950" dirty="0"/>
          </a:p>
          <a:p>
            <a:pPr algn="ctr" indent="0" marL="0">
              <a:buNone/>
            </a:pPr>
            <a:r>
              <a:rPr lang="en-US" sz="7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:8087</a:t>
            </a:r>
            <a:endParaRPr lang="en-US" sz="950" dirty="0"/>
          </a:p>
        </p:txBody>
      </p:sp>
      <p:sp>
        <p:nvSpPr>
          <p:cNvPr id="42" name="Shape 40"/>
          <p:cNvSpPr/>
          <p:nvPr/>
        </p:nvSpPr>
        <p:spPr>
          <a:xfrm>
            <a:off x="2514600" y="3611880"/>
            <a:ext cx="1828800" cy="457200"/>
          </a:xfrm>
          <a:prstGeom prst="roundRect">
            <a:avLst>
              <a:gd name="adj" fmla="val 12000"/>
            </a:avLst>
          </a:prstGeom>
          <a:solidFill>
            <a:srgbClr val="F4F6F8"/>
          </a:solidFill>
          <a:ln w="12700">
            <a:solidFill>
              <a:srgbClr val="C3CCD6"/>
            </a:solidFill>
            <a:prstDash val="solid"/>
          </a:ln>
          <a:effectLst>
            <a:outerShdw sx="100000" sy="100000" kx="0" ky="0" algn="bl" rotWithShape="0" blurRad="63500" dist="25400" dir="5400000">
              <a:srgbClr val="000000">
                <a:alpha val="12000"/>
              </a:srgbClr>
            </a:outerShdw>
          </a:effectLst>
        </p:spPr>
      </p:sp>
      <p:sp>
        <p:nvSpPr>
          <p:cNvPr id="43" name="Text 41"/>
          <p:cNvSpPr/>
          <p:nvPr/>
        </p:nvSpPr>
        <p:spPr>
          <a:xfrm>
            <a:off x="2514600" y="3611880"/>
            <a:ext cx="1828800" cy="457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B24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mci-edge-fix</a:t>
            </a:r>
            <a:endParaRPr lang="en-US" sz="950" dirty="0"/>
          </a:p>
          <a:p>
            <a:pPr algn="ctr" indent="0" marL="0">
              <a:buNone/>
            </a:pPr>
            <a:r>
              <a:rPr lang="en-US" sz="7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:5001</a:t>
            </a:r>
            <a:endParaRPr lang="en-US" sz="950" dirty="0"/>
          </a:p>
        </p:txBody>
      </p:sp>
      <p:sp>
        <p:nvSpPr>
          <p:cNvPr id="44" name="Shape 42"/>
          <p:cNvSpPr/>
          <p:nvPr/>
        </p:nvSpPr>
        <p:spPr>
          <a:xfrm>
            <a:off x="4709160" y="868680"/>
            <a:ext cx="1828800" cy="457200"/>
          </a:xfrm>
          <a:prstGeom prst="roundRect">
            <a:avLst>
              <a:gd name="adj" fmla="val 12000"/>
            </a:avLst>
          </a:prstGeom>
          <a:solidFill>
            <a:srgbClr val="F4F6F8"/>
          </a:solidFill>
          <a:ln w="12700">
            <a:solidFill>
              <a:srgbClr val="C3CCD6"/>
            </a:solidFill>
            <a:prstDash val="solid"/>
          </a:ln>
          <a:effectLst>
            <a:outerShdw sx="100000" sy="100000" kx="0" ky="0" algn="bl" rotWithShape="0" blurRad="63500" dist="25400" dir="5400000">
              <a:srgbClr val="000000">
                <a:alpha val="12000"/>
              </a:srgbClr>
            </a:outerShdw>
          </a:effectLst>
        </p:spPr>
      </p:sp>
      <p:sp>
        <p:nvSpPr>
          <p:cNvPr id="45" name="Text 43"/>
          <p:cNvSpPr/>
          <p:nvPr/>
        </p:nvSpPr>
        <p:spPr>
          <a:xfrm>
            <a:off x="4709160" y="868680"/>
            <a:ext cx="1828800" cy="457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B24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quote-forwarder</a:t>
            </a:r>
            <a:endParaRPr lang="en-US" sz="950" dirty="0"/>
          </a:p>
          <a:p>
            <a:pPr algn="ctr" indent="0" marL="0">
              <a:buNone/>
            </a:pPr>
            <a:r>
              <a:rPr lang="en-US" sz="7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UDP 수신</a:t>
            </a:r>
            <a:endParaRPr lang="en-US" sz="950" dirty="0"/>
          </a:p>
        </p:txBody>
      </p:sp>
      <p:sp>
        <p:nvSpPr>
          <p:cNvPr id="46" name="Shape 44"/>
          <p:cNvSpPr/>
          <p:nvPr/>
        </p:nvSpPr>
        <p:spPr>
          <a:xfrm>
            <a:off x="4709160" y="1417320"/>
            <a:ext cx="1828800" cy="457200"/>
          </a:xfrm>
          <a:prstGeom prst="roundRect">
            <a:avLst>
              <a:gd name="adj" fmla="val 12000"/>
            </a:avLst>
          </a:prstGeom>
          <a:solidFill>
            <a:srgbClr val="F4F6F8"/>
          </a:solidFill>
          <a:ln w="12700">
            <a:solidFill>
              <a:srgbClr val="1E3A8A"/>
            </a:solidFill>
            <a:prstDash val="solid"/>
          </a:ln>
          <a:effectLst>
            <a:outerShdw sx="100000" sy="100000" kx="0" ky="0" algn="bl" rotWithShape="0" blurRad="63500" dist="25400" dir="5400000">
              <a:srgbClr val="000000">
                <a:alpha val="12000"/>
              </a:srgbClr>
            </a:outerShdw>
          </a:effectLst>
        </p:spPr>
      </p:sp>
      <p:sp>
        <p:nvSpPr>
          <p:cNvPr id="47" name="Text 45"/>
          <p:cNvSpPr/>
          <p:nvPr/>
        </p:nvSpPr>
        <p:spPr>
          <a:xfrm>
            <a:off x="4709160" y="1417320"/>
            <a:ext cx="1828800" cy="457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B24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mci-api</a:t>
            </a:r>
            <a:endParaRPr lang="en-US" sz="950" dirty="0"/>
          </a:p>
          <a:p>
            <a:pPr algn="ctr" indent="0" marL="0">
              <a:buNone/>
            </a:pPr>
            <a:r>
              <a:rPr lang="en-US" sz="7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:8080 · broker 유일</a:t>
            </a:r>
            <a:endParaRPr lang="en-US" sz="950" dirty="0"/>
          </a:p>
        </p:txBody>
      </p:sp>
      <p:sp>
        <p:nvSpPr>
          <p:cNvPr id="48" name="Shape 46"/>
          <p:cNvSpPr/>
          <p:nvPr/>
        </p:nvSpPr>
        <p:spPr>
          <a:xfrm>
            <a:off x="4709160" y="1965960"/>
            <a:ext cx="1828800" cy="457200"/>
          </a:xfrm>
          <a:prstGeom prst="roundRect">
            <a:avLst>
              <a:gd name="adj" fmla="val 12000"/>
            </a:avLst>
          </a:prstGeom>
          <a:solidFill>
            <a:srgbClr val="F4F6F8"/>
          </a:solidFill>
          <a:ln w="12700">
            <a:solidFill>
              <a:srgbClr val="C3CCD6"/>
            </a:solidFill>
            <a:prstDash val="solid"/>
          </a:ln>
          <a:effectLst>
            <a:outerShdw sx="100000" sy="100000" kx="0" ky="0" algn="bl" rotWithShape="0" blurRad="63500" dist="25400" dir="5400000">
              <a:srgbClr val="000000">
                <a:alpha val="12000"/>
              </a:srgbClr>
            </a:outerShdw>
          </a:effectLst>
        </p:spPr>
      </p:sp>
      <p:sp>
        <p:nvSpPr>
          <p:cNvPr id="49" name="Text 47"/>
          <p:cNvSpPr/>
          <p:nvPr/>
        </p:nvSpPr>
        <p:spPr>
          <a:xfrm>
            <a:off x="4709160" y="1965960"/>
            <a:ext cx="1828800" cy="457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B24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mci-price</a:t>
            </a:r>
            <a:endParaRPr lang="en-US" sz="950" dirty="0"/>
          </a:p>
          <a:p>
            <a:pPr algn="ctr" indent="0" marL="0">
              <a:buNone/>
            </a:pPr>
            <a:r>
              <a:rPr lang="en-US" sz="7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:8082 / :50051</a:t>
            </a:r>
            <a:endParaRPr lang="en-US" sz="950" dirty="0"/>
          </a:p>
        </p:txBody>
      </p:sp>
      <p:sp>
        <p:nvSpPr>
          <p:cNvPr id="50" name="Shape 48"/>
          <p:cNvSpPr/>
          <p:nvPr/>
        </p:nvSpPr>
        <p:spPr>
          <a:xfrm>
            <a:off x="4709160" y="2514600"/>
            <a:ext cx="1828800" cy="457200"/>
          </a:xfrm>
          <a:prstGeom prst="roundRect">
            <a:avLst>
              <a:gd name="adj" fmla="val 12000"/>
            </a:avLst>
          </a:prstGeom>
          <a:solidFill>
            <a:srgbClr val="F4F6F8"/>
          </a:solidFill>
          <a:ln w="12700">
            <a:solidFill>
              <a:srgbClr val="C3CCD6"/>
            </a:solidFill>
            <a:prstDash val="solid"/>
          </a:ln>
          <a:effectLst>
            <a:outerShdw sx="100000" sy="100000" kx="0" ky="0" algn="bl" rotWithShape="0" blurRad="63500" dist="25400" dir="5400000">
              <a:srgbClr val="000000">
                <a:alpha val="12000"/>
              </a:srgbClr>
            </a:outerShdw>
          </a:effectLst>
        </p:spPr>
      </p:sp>
      <p:sp>
        <p:nvSpPr>
          <p:cNvPr id="51" name="Text 49"/>
          <p:cNvSpPr/>
          <p:nvPr/>
        </p:nvSpPr>
        <p:spPr>
          <a:xfrm>
            <a:off x="4709160" y="2514600"/>
            <a:ext cx="1828800" cy="457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B24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mci-push</a:t>
            </a:r>
            <a:endParaRPr lang="en-US" sz="950" dirty="0"/>
          </a:p>
          <a:p>
            <a:pPr algn="ctr" indent="0" marL="0">
              <a:buNone/>
            </a:pPr>
            <a:r>
              <a:rPr lang="en-US" sz="7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:8081 · HTTP 전용</a:t>
            </a:r>
            <a:endParaRPr lang="en-US" sz="950" dirty="0"/>
          </a:p>
        </p:txBody>
      </p:sp>
      <p:sp>
        <p:nvSpPr>
          <p:cNvPr id="52" name="Shape 50"/>
          <p:cNvSpPr/>
          <p:nvPr/>
        </p:nvSpPr>
        <p:spPr>
          <a:xfrm>
            <a:off x="4709160" y="3063240"/>
            <a:ext cx="1828800" cy="457200"/>
          </a:xfrm>
          <a:prstGeom prst="roundRect">
            <a:avLst>
              <a:gd name="adj" fmla="val 12000"/>
            </a:avLst>
          </a:prstGeom>
          <a:solidFill>
            <a:srgbClr val="F4F6F8"/>
          </a:solidFill>
          <a:ln w="12700">
            <a:solidFill>
              <a:srgbClr val="C3CCD6"/>
            </a:solidFill>
            <a:prstDash val="solid"/>
          </a:ln>
          <a:effectLst>
            <a:outerShdw sx="100000" sy="100000" kx="0" ky="0" algn="bl" rotWithShape="0" blurRad="63500" dist="25400" dir="5400000">
              <a:srgbClr val="000000">
                <a:alpha val="12000"/>
              </a:srgbClr>
            </a:outerShdw>
          </a:effectLst>
        </p:spPr>
      </p:sp>
      <p:sp>
        <p:nvSpPr>
          <p:cNvPr id="53" name="Text 51"/>
          <p:cNvSpPr/>
          <p:nvPr/>
        </p:nvSpPr>
        <p:spPr>
          <a:xfrm>
            <a:off x="4709160" y="3063240"/>
            <a:ext cx="1828800" cy="457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B24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mci-chart</a:t>
            </a:r>
            <a:endParaRPr lang="en-US" sz="950" dirty="0"/>
          </a:p>
          <a:p>
            <a:pPr algn="ctr" indent="0" marL="0">
              <a:buNone/>
            </a:pPr>
            <a:r>
              <a:rPr lang="en-US" sz="7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:8086</a:t>
            </a:r>
            <a:endParaRPr lang="en-US" sz="950" dirty="0"/>
          </a:p>
        </p:txBody>
      </p:sp>
      <p:sp>
        <p:nvSpPr>
          <p:cNvPr id="54" name="Shape 52"/>
          <p:cNvSpPr/>
          <p:nvPr/>
        </p:nvSpPr>
        <p:spPr>
          <a:xfrm>
            <a:off x="4709160" y="3611880"/>
            <a:ext cx="1828800" cy="457200"/>
          </a:xfrm>
          <a:prstGeom prst="roundRect">
            <a:avLst>
              <a:gd name="adj" fmla="val 12000"/>
            </a:avLst>
          </a:prstGeom>
          <a:solidFill>
            <a:srgbClr val="F4F6F8"/>
          </a:solidFill>
          <a:ln w="12700">
            <a:solidFill>
              <a:srgbClr val="C3CCD6"/>
            </a:solidFill>
            <a:prstDash val="solid"/>
          </a:ln>
          <a:effectLst>
            <a:outerShdw sx="100000" sy="100000" kx="0" ky="0" algn="bl" rotWithShape="0" blurRad="63500" dist="25400" dir="5400000">
              <a:srgbClr val="000000">
                <a:alpha val="12000"/>
              </a:srgbClr>
            </a:outerShdw>
          </a:effectLst>
        </p:spPr>
      </p:sp>
      <p:sp>
        <p:nvSpPr>
          <p:cNvPr id="55" name="Text 53"/>
          <p:cNvSpPr/>
          <p:nvPr/>
        </p:nvSpPr>
        <p:spPr>
          <a:xfrm>
            <a:off x="4709160" y="3611880"/>
            <a:ext cx="1828800" cy="457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B24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mci-admin</a:t>
            </a:r>
            <a:endParaRPr lang="en-US" sz="950" dirty="0"/>
          </a:p>
          <a:p>
            <a:pPr algn="ctr" indent="0" marL="0">
              <a:buNone/>
            </a:pPr>
            <a:r>
              <a:rPr lang="en-US" sz="7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:9090 · etcd 전용</a:t>
            </a:r>
            <a:endParaRPr lang="en-US" sz="950" dirty="0"/>
          </a:p>
        </p:txBody>
      </p:sp>
      <p:sp>
        <p:nvSpPr>
          <p:cNvPr id="56" name="Shape 54"/>
          <p:cNvSpPr/>
          <p:nvPr/>
        </p:nvSpPr>
        <p:spPr>
          <a:xfrm>
            <a:off x="7086600" y="1188720"/>
            <a:ext cx="1828800" cy="457200"/>
          </a:xfrm>
          <a:prstGeom prst="roundRect">
            <a:avLst>
              <a:gd name="adj" fmla="val 12000"/>
            </a:avLst>
          </a:prstGeom>
          <a:solidFill>
            <a:srgbClr val="1B2432"/>
          </a:solidFill>
          <a:ln w="12700">
            <a:solidFill>
              <a:srgbClr val="1B2432"/>
            </a:solidFill>
            <a:prstDash val="solid"/>
          </a:ln>
          <a:effectLst>
            <a:outerShdw sx="100000" sy="100000" kx="0" ky="0" algn="bl" rotWithShape="0" blurRad="63500" dist="25400" dir="5400000">
              <a:srgbClr val="000000">
                <a:alpha val="12000"/>
              </a:srgbClr>
            </a:outerShdw>
          </a:effectLst>
        </p:spPr>
      </p:sp>
      <p:sp>
        <p:nvSpPr>
          <p:cNvPr id="57" name="Text 55"/>
          <p:cNvSpPr/>
          <p:nvPr/>
        </p:nvSpPr>
        <p:spPr>
          <a:xfrm>
            <a:off x="7086600" y="1188720"/>
            <a:ext cx="1828800" cy="457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mymqd (broker)</a:t>
            </a:r>
            <a:endParaRPr lang="en-US" sz="1000" dirty="0"/>
          </a:p>
          <a:p>
            <a:pPr algn="ctr" indent="0" marL="0">
              <a:buNone/>
            </a:pPr>
            <a:r>
              <a:rPr lang="en-US" sz="700" dirty="0">
                <a:solidFill>
                  <a:srgbClr val="AAB7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mci-api 전용</a:t>
            </a:r>
            <a:endParaRPr lang="en-US" sz="1000" dirty="0"/>
          </a:p>
        </p:txBody>
      </p:sp>
      <p:sp>
        <p:nvSpPr>
          <p:cNvPr id="58" name="Shape 56"/>
          <p:cNvSpPr/>
          <p:nvPr/>
        </p:nvSpPr>
        <p:spPr>
          <a:xfrm>
            <a:off x="7086600" y="1783080"/>
            <a:ext cx="1828800" cy="457200"/>
          </a:xfrm>
          <a:prstGeom prst="roundRect">
            <a:avLst>
              <a:gd name="adj" fmla="val 12000"/>
            </a:avLst>
          </a:prstGeom>
          <a:solidFill>
            <a:srgbClr val="F4F6F8"/>
          </a:solidFill>
          <a:ln w="12700">
            <a:solidFill>
              <a:srgbClr val="C3CCD6"/>
            </a:solidFill>
            <a:prstDash val="solid"/>
          </a:ln>
          <a:effectLst>
            <a:outerShdw sx="100000" sy="100000" kx="0" ky="0" algn="bl" rotWithShape="0" blurRad="63500" dist="25400" dir="5400000">
              <a:srgbClr val="000000">
                <a:alpha val="12000"/>
              </a:srgbClr>
            </a:outerShdw>
          </a:effectLst>
        </p:spPr>
      </p:sp>
      <p:sp>
        <p:nvSpPr>
          <p:cNvPr id="59" name="Text 57"/>
          <p:cNvSpPr/>
          <p:nvPr/>
        </p:nvSpPr>
        <p:spPr>
          <a:xfrm>
            <a:off x="7086600" y="1783080"/>
            <a:ext cx="1828800" cy="457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B24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매매 엔진</a:t>
            </a:r>
            <a:endParaRPr lang="en-US" sz="950" dirty="0"/>
          </a:p>
          <a:p>
            <a:pPr algn="ctr" indent="0" marL="0">
              <a:buNone/>
            </a:pPr>
            <a:r>
              <a:rPr lang="en-US" sz="7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MyMQ AP</a:t>
            </a:r>
            <a:endParaRPr lang="en-US" sz="950" dirty="0"/>
          </a:p>
        </p:txBody>
      </p:sp>
      <p:sp>
        <p:nvSpPr>
          <p:cNvPr id="60" name="Shape 58"/>
          <p:cNvSpPr/>
          <p:nvPr/>
        </p:nvSpPr>
        <p:spPr>
          <a:xfrm>
            <a:off x="7086600" y="2697480"/>
            <a:ext cx="1828800" cy="457200"/>
          </a:xfrm>
          <a:prstGeom prst="roundRect">
            <a:avLst>
              <a:gd name="adj" fmla="val 12000"/>
            </a:avLst>
          </a:prstGeom>
          <a:solidFill>
            <a:srgbClr val="F4F6F8"/>
          </a:solidFill>
          <a:ln w="12700">
            <a:solidFill>
              <a:srgbClr val="C3CCD6"/>
            </a:solidFill>
            <a:prstDash val="solid"/>
          </a:ln>
          <a:effectLst>
            <a:outerShdw sx="100000" sy="100000" kx="0" ky="0" algn="bl" rotWithShape="0" blurRad="63500" dist="25400" dir="5400000">
              <a:srgbClr val="000000">
                <a:alpha val="12000"/>
              </a:srgbClr>
            </a:outerShdw>
          </a:effectLst>
        </p:spPr>
      </p:sp>
      <p:sp>
        <p:nvSpPr>
          <p:cNvPr id="61" name="Text 59"/>
          <p:cNvSpPr/>
          <p:nvPr/>
        </p:nvSpPr>
        <p:spPr>
          <a:xfrm>
            <a:off x="7086600" y="2697480"/>
            <a:ext cx="1828800" cy="457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B24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etcd</a:t>
            </a:r>
            <a:endParaRPr lang="en-US" sz="950" dirty="0"/>
          </a:p>
          <a:p>
            <a:pPr algn="ctr" indent="0" marL="0">
              <a:buNone/>
            </a:pPr>
            <a:r>
              <a:rPr lang="en-US" sz="7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카탈로그/정책</a:t>
            </a:r>
            <a:endParaRPr lang="en-US" sz="950" dirty="0"/>
          </a:p>
        </p:txBody>
      </p:sp>
      <p:sp>
        <p:nvSpPr>
          <p:cNvPr id="62" name="Shape 60"/>
          <p:cNvSpPr/>
          <p:nvPr/>
        </p:nvSpPr>
        <p:spPr>
          <a:xfrm>
            <a:off x="7086600" y="3520440"/>
            <a:ext cx="1828800" cy="457200"/>
          </a:xfrm>
          <a:prstGeom prst="roundRect">
            <a:avLst>
              <a:gd name="adj" fmla="val 12000"/>
            </a:avLst>
          </a:prstGeom>
          <a:solidFill>
            <a:srgbClr val="F4F6F8"/>
          </a:solidFill>
          <a:ln w="12700">
            <a:solidFill>
              <a:srgbClr val="C3CCD6"/>
            </a:solidFill>
            <a:prstDash val="solid"/>
          </a:ln>
          <a:effectLst>
            <a:outerShdw sx="100000" sy="100000" kx="0" ky="0" algn="bl" rotWithShape="0" blurRad="63500" dist="25400" dir="5400000">
              <a:srgbClr val="000000">
                <a:alpha val="12000"/>
              </a:srgbClr>
            </a:outerShdw>
          </a:effectLst>
        </p:spPr>
      </p:sp>
      <p:sp>
        <p:nvSpPr>
          <p:cNvPr id="63" name="Text 61"/>
          <p:cNvSpPr/>
          <p:nvPr/>
        </p:nvSpPr>
        <p:spPr>
          <a:xfrm>
            <a:off x="7086600" y="3520440"/>
            <a:ext cx="1828800" cy="457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B24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TimescaleDB</a:t>
            </a:r>
            <a:endParaRPr lang="en-US" sz="950" dirty="0"/>
          </a:p>
          <a:p>
            <a:pPr algn="ctr" indent="0" marL="0">
              <a:buNone/>
            </a:pPr>
            <a:r>
              <a:rPr lang="en-US" sz="7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quote_bars</a:t>
            </a:r>
            <a:endParaRPr lang="en-US" sz="950" dirty="0"/>
          </a:p>
        </p:txBody>
      </p:sp>
      <p:sp>
        <p:nvSpPr>
          <p:cNvPr id="64" name="Shape 62"/>
          <p:cNvSpPr/>
          <p:nvPr/>
        </p:nvSpPr>
        <p:spPr>
          <a:xfrm>
            <a:off x="7086600" y="4160520"/>
            <a:ext cx="1828800" cy="420624"/>
          </a:xfrm>
          <a:prstGeom prst="roundRect">
            <a:avLst>
              <a:gd name="adj" fmla="val 13043"/>
            </a:avLst>
          </a:prstGeom>
          <a:solidFill>
            <a:srgbClr val="F2F4F7"/>
          </a:solidFill>
          <a:ln w="12700">
            <a:solidFill>
              <a:srgbClr val="D7DEE6"/>
            </a:solidFill>
            <a:prstDash val="dash"/>
          </a:ln>
        </p:spPr>
      </p:sp>
      <p:sp>
        <p:nvSpPr>
          <p:cNvPr id="65" name="Text 63"/>
          <p:cNvSpPr/>
          <p:nvPr/>
        </p:nvSpPr>
        <p:spPr>
          <a:xfrm>
            <a:off x="7086600" y="4160520"/>
            <a:ext cx="1828800" cy="42062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AA7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Redis 제거</a:t>
            </a:r>
            <a:endParaRPr lang="en-US" sz="900" dirty="0"/>
          </a:p>
          <a:p>
            <a:pPr algn="ctr" indent="0" marL="0">
              <a:buNone/>
            </a:pPr>
            <a:r>
              <a:rPr lang="en-US" sz="700" dirty="0">
                <a:solidFill>
                  <a:srgbClr val="AEB8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세션→in-memory</a:t>
            </a:r>
            <a:endParaRPr lang="en-US" sz="900" dirty="0"/>
          </a:p>
        </p:txBody>
      </p:sp>
      <p:sp>
        <p:nvSpPr>
          <p:cNvPr id="66" name="Text 64"/>
          <p:cNvSpPr/>
          <p:nvPr/>
        </p:nvSpPr>
        <p:spPr>
          <a:xfrm>
            <a:off x="274320" y="566928"/>
            <a:ext cx="1828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외부 · 진입점</a:t>
            </a:r>
            <a:endParaRPr lang="en-US" sz="1000" dirty="0"/>
          </a:p>
        </p:txBody>
      </p:sp>
      <p:sp>
        <p:nvSpPr>
          <p:cNvPr id="67" name="Text 65"/>
          <p:cNvSpPr/>
          <p:nvPr/>
        </p:nvSpPr>
        <p:spPr>
          <a:xfrm>
            <a:off x="2514600" y="566928"/>
            <a:ext cx="1828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DMZ Edge</a:t>
            </a:r>
            <a:endParaRPr lang="en-US" sz="1000" dirty="0"/>
          </a:p>
        </p:txBody>
      </p:sp>
      <p:sp>
        <p:nvSpPr>
          <p:cNvPr id="68" name="Text 66"/>
          <p:cNvSpPr/>
          <p:nvPr/>
        </p:nvSpPr>
        <p:spPr>
          <a:xfrm>
            <a:off x="4709160" y="566928"/>
            <a:ext cx="1828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Internal 서비스</a:t>
            </a:r>
            <a:endParaRPr lang="en-US" sz="1000" dirty="0"/>
          </a:p>
        </p:txBody>
      </p:sp>
      <p:sp>
        <p:nvSpPr>
          <p:cNvPr id="69" name="Text 67"/>
          <p:cNvSpPr/>
          <p:nvPr/>
        </p:nvSpPr>
        <p:spPr>
          <a:xfrm>
            <a:off x="7086600" y="566928"/>
            <a:ext cx="1828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Broker · 엔진 · 저장소</a:t>
            </a:r>
            <a:endParaRPr lang="en-US" sz="1000" dirty="0"/>
          </a:p>
        </p:txBody>
      </p:sp>
      <p:sp>
        <p:nvSpPr>
          <p:cNvPr id="70" name="Shape 68"/>
          <p:cNvSpPr/>
          <p:nvPr/>
        </p:nvSpPr>
        <p:spPr>
          <a:xfrm>
            <a:off x="274320" y="4754880"/>
            <a:ext cx="8641080" cy="822960"/>
          </a:xfrm>
          <a:prstGeom prst="roundRect">
            <a:avLst>
              <a:gd name="adj" fmla="val 6667"/>
            </a:avLst>
          </a:prstGeom>
          <a:solidFill>
            <a:srgbClr val="FBF2F7"/>
          </a:solidFill>
          <a:ln w="15875">
            <a:solidFill>
              <a:srgbClr val="D81B7A"/>
            </a:solidFill>
            <a:prstDash val="solid"/>
          </a:ln>
        </p:spPr>
      </p:sp>
      <p:sp>
        <p:nvSpPr>
          <p:cNvPr id="71" name="Text 69"/>
          <p:cNvSpPr/>
          <p:nvPr/>
        </p:nvSpPr>
        <p:spPr>
          <a:xfrm>
            <a:off x="411480" y="4864608"/>
            <a:ext cx="4206240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81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 세계 — broker·gRPC 미접촉</a:t>
            </a:r>
            <a:endParaRPr lang="en-US" sz="1000" dirty="0"/>
          </a:p>
          <a:p>
            <a:pPr indent="0" marL="0">
              <a:buNone/>
            </a:pPr>
            <a:r>
              <a:rPr lang="en-US" sz="83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운영 svc·매매엔진 → mci-push HTTP push(broker 우회) · algo → mci-price SHM (raw socket·외부의존 0)</a:t>
            </a:r>
            <a:endParaRPr lang="en-US" sz="1000" dirty="0"/>
          </a:p>
        </p:txBody>
      </p:sp>
      <p:sp>
        <p:nvSpPr>
          <p:cNvPr id="72" name="Shape 70"/>
          <p:cNvSpPr/>
          <p:nvPr/>
        </p:nvSpPr>
        <p:spPr>
          <a:xfrm>
            <a:off x="4709160" y="4864608"/>
            <a:ext cx="1965960" cy="457200"/>
          </a:xfrm>
          <a:prstGeom prst="roundRect">
            <a:avLst>
              <a:gd name="adj" fmla="val 12000"/>
            </a:avLst>
          </a:prstGeom>
          <a:solidFill>
            <a:srgbClr val="F4F6F8"/>
          </a:solidFill>
          <a:ln w="12700">
            <a:solidFill>
              <a:srgbClr val="C3CCD6"/>
            </a:solidFill>
            <a:prstDash val="solid"/>
          </a:ln>
          <a:effectLst>
            <a:outerShdw sx="100000" sy="100000" kx="0" ky="0" algn="bl" rotWithShape="0" blurRad="63500" dist="25400" dir="5400000">
              <a:srgbClr val="000000">
                <a:alpha val="12000"/>
              </a:srgbClr>
            </a:outerShdw>
          </a:effectLst>
        </p:spPr>
      </p:sp>
      <p:sp>
        <p:nvSpPr>
          <p:cNvPr id="73" name="Text 71"/>
          <p:cNvSpPr/>
          <p:nvPr/>
        </p:nvSpPr>
        <p:spPr>
          <a:xfrm>
            <a:off x="4709160" y="4864608"/>
            <a:ext cx="1965960" cy="457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B24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cside 운영 svc</a:t>
            </a:r>
            <a:endParaRPr lang="en-US" sz="950" dirty="0"/>
          </a:p>
          <a:p>
            <a:pPr algn="ctr" indent="0" marL="0">
              <a:buNone/>
            </a:pPr>
            <a:r>
              <a:rPr lang="en-US" sz="7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wtgpush/query/price</a:t>
            </a:r>
            <a:endParaRPr lang="en-US" sz="950" dirty="0"/>
          </a:p>
        </p:txBody>
      </p:sp>
      <p:sp>
        <p:nvSpPr>
          <p:cNvPr id="74" name="Shape 72"/>
          <p:cNvSpPr/>
          <p:nvPr/>
        </p:nvSpPr>
        <p:spPr>
          <a:xfrm>
            <a:off x="6903720" y="4864608"/>
            <a:ext cx="1828800" cy="457200"/>
          </a:xfrm>
          <a:prstGeom prst="roundRect">
            <a:avLst>
              <a:gd name="adj" fmla="val 12000"/>
            </a:avLst>
          </a:prstGeom>
          <a:solidFill>
            <a:srgbClr val="F4F6F8"/>
          </a:solidFill>
          <a:ln w="12700">
            <a:solidFill>
              <a:srgbClr val="C3CCD6"/>
            </a:solidFill>
            <a:prstDash val="solid"/>
          </a:ln>
          <a:effectLst>
            <a:outerShdw sx="100000" sy="100000" kx="0" ky="0" algn="bl" rotWithShape="0" blurRad="63500" dist="25400" dir="5400000">
              <a:srgbClr val="000000">
                <a:alpha val="12000"/>
              </a:srgbClr>
            </a:outerShdw>
          </a:effectLst>
        </p:spPr>
      </p:sp>
      <p:sp>
        <p:nvSpPr>
          <p:cNvPr id="75" name="Text 73"/>
          <p:cNvSpPr/>
          <p:nvPr/>
        </p:nvSpPr>
        <p:spPr>
          <a:xfrm>
            <a:off x="6903720" y="4864608"/>
            <a:ext cx="1828800" cy="457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B24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 algo (매매)</a:t>
            </a:r>
            <a:endParaRPr lang="en-US" sz="950" dirty="0"/>
          </a:p>
          <a:p>
            <a:pPr algn="ctr" indent="0" marL="0">
              <a:buNone/>
            </a:pPr>
            <a:r>
              <a:rPr lang="en-US" sz="7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host</a:t>
            </a:r>
            <a:endParaRPr lang="en-US" sz="950" dirty="0"/>
          </a:p>
        </p:txBody>
      </p:sp>
      <p:sp>
        <p:nvSpPr>
          <p:cNvPr id="76" name="Shape 74"/>
          <p:cNvSpPr/>
          <p:nvPr/>
        </p:nvSpPr>
        <p:spPr>
          <a:xfrm flipH="1" flipV="1">
            <a:off x="5623560" y="2962656"/>
            <a:ext cx="45720" cy="1901952"/>
          </a:xfrm>
          <a:prstGeom prst="line">
            <a:avLst/>
          </a:prstGeom>
          <a:noFill/>
          <a:ln w="24130">
            <a:solidFill>
              <a:srgbClr val="3B82C4"/>
            </a:solidFill>
            <a:prstDash val="solid"/>
            <a:tailEnd type="triangle"/>
          </a:ln>
        </p:spPr>
      </p:sp>
      <p:sp>
        <p:nvSpPr>
          <p:cNvPr id="77" name="Shape 75"/>
          <p:cNvSpPr/>
          <p:nvPr/>
        </p:nvSpPr>
        <p:spPr>
          <a:xfrm flipH="1" flipV="1">
            <a:off x="5989320" y="2414016"/>
            <a:ext cx="320040" cy="2450592"/>
          </a:xfrm>
          <a:prstGeom prst="line">
            <a:avLst/>
          </a:prstGeom>
          <a:noFill/>
          <a:ln w="24130">
            <a:solidFill>
              <a:srgbClr val="3B82C4"/>
            </a:solidFill>
            <a:prstDash val="solid"/>
            <a:tailEnd type="triangle"/>
          </a:ln>
        </p:spPr>
      </p:sp>
      <p:sp>
        <p:nvSpPr>
          <p:cNvPr id="78" name="Shape 76"/>
          <p:cNvSpPr/>
          <p:nvPr/>
        </p:nvSpPr>
        <p:spPr>
          <a:xfrm flipH="1" flipV="1">
            <a:off x="6172200" y="2414016"/>
            <a:ext cx="1600200" cy="2450592"/>
          </a:xfrm>
          <a:prstGeom prst="line">
            <a:avLst/>
          </a:prstGeom>
          <a:noFill/>
          <a:ln w="24130">
            <a:solidFill>
              <a:srgbClr val="D81B7A"/>
            </a:solidFill>
            <a:prstDash val="dash"/>
            <a:tailEnd type="triangle"/>
          </a:ln>
        </p:spPr>
      </p:sp>
      <p:sp>
        <p:nvSpPr>
          <p:cNvPr id="79" name="Shape 77"/>
          <p:cNvSpPr/>
          <p:nvPr/>
        </p:nvSpPr>
        <p:spPr>
          <a:xfrm>
            <a:off x="9464040" y="868680"/>
            <a:ext cx="2423160" cy="3977640"/>
          </a:xfrm>
          <a:prstGeom prst="roundRect">
            <a:avLst>
              <a:gd name="adj" fmla="val 1887"/>
            </a:avLst>
          </a:prstGeom>
          <a:solidFill>
            <a:srgbClr val="F8FAFC"/>
          </a:solidFill>
          <a:ln w="12700">
            <a:solidFill>
              <a:srgbClr val="C3CCD6"/>
            </a:solidFill>
            <a:prstDash val="solid"/>
          </a:ln>
        </p:spPr>
      </p:sp>
      <p:sp>
        <p:nvSpPr>
          <p:cNvPr id="80" name="Text 78"/>
          <p:cNvSpPr/>
          <p:nvPr/>
        </p:nvSpPr>
        <p:spPr>
          <a:xfrm>
            <a:off x="9601200" y="978408"/>
            <a:ext cx="2148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B24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전송 기술 범례</a:t>
            </a:r>
            <a:endParaRPr lang="en-US" sz="1100" dirty="0"/>
          </a:p>
        </p:txBody>
      </p:sp>
      <p:sp>
        <p:nvSpPr>
          <p:cNvPr id="81" name="Shape 79"/>
          <p:cNvSpPr/>
          <p:nvPr/>
        </p:nvSpPr>
        <p:spPr>
          <a:xfrm>
            <a:off x="9628632" y="1444752"/>
            <a:ext cx="384048" cy="0"/>
          </a:xfrm>
          <a:prstGeom prst="line">
            <a:avLst/>
          </a:prstGeom>
          <a:noFill/>
          <a:ln w="38100">
            <a:solidFill>
              <a:srgbClr val="E8833A"/>
            </a:solidFill>
            <a:prstDash val="solid"/>
          </a:ln>
        </p:spPr>
      </p:sp>
      <p:sp>
        <p:nvSpPr>
          <p:cNvPr id="82" name="Text 80"/>
          <p:cNvSpPr/>
          <p:nvPr/>
        </p:nvSpPr>
        <p:spPr>
          <a:xfrm>
            <a:off x="10085832" y="1289304"/>
            <a:ext cx="16916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70" b="1" dirty="0">
                <a:solidFill>
                  <a:srgbClr val="1B24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UDP FIX 4.4  </a:t>
            </a:r>
            <a:pPr indent="0" marL="0">
              <a:buNone/>
            </a:pPr>
            <a:r>
              <a:rPr lang="en-US" sz="76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시세 피드 수신</a:t>
            </a:r>
            <a:endParaRPr lang="en-US" sz="870" dirty="0"/>
          </a:p>
        </p:txBody>
      </p:sp>
      <p:sp>
        <p:nvSpPr>
          <p:cNvPr id="83" name="Shape 81"/>
          <p:cNvSpPr/>
          <p:nvPr/>
        </p:nvSpPr>
        <p:spPr>
          <a:xfrm>
            <a:off x="9628632" y="1856232"/>
            <a:ext cx="384048" cy="0"/>
          </a:xfrm>
          <a:prstGeom prst="line">
            <a:avLst/>
          </a:prstGeom>
          <a:noFill/>
          <a:ln w="38100">
            <a:solidFill>
              <a:srgbClr val="1E3A8A"/>
            </a:solidFill>
            <a:prstDash val="solid"/>
          </a:ln>
        </p:spPr>
      </p:sp>
      <p:sp>
        <p:nvSpPr>
          <p:cNvPr id="84" name="Text 82"/>
          <p:cNvSpPr/>
          <p:nvPr/>
        </p:nvSpPr>
        <p:spPr>
          <a:xfrm>
            <a:off x="10085832" y="1700784"/>
            <a:ext cx="16916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70" b="1" dirty="0">
                <a:solidFill>
                  <a:srgbClr val="1B24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MyMQ wire  </a:t>
            </a:r>
            <a:pPr indent="0" marL="0">
              <a:buNone/>
            </a:pPr>
            <a:r>
              <a:rPr lang="en-US" sz="76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mci-api ↔ broker 전용</a:t>
            </a:r>
            <a:endParaRPr lang="en-US" sz="870" dirty="0"/>
          </a:p>
        </p:txBody>
      </p:sp>
      <p:sp>
        <p:nvSpPr>
          <p:cNvPr id="85" name="Shape 83"/>
          <p:cNvSpPr/>
          <p:nvPr/>
        </p:nvSpPr>
        <p:spPr>
          <a:xfrm>
            <a:off x="9628632" y="2267712"/>
            <a:ext cx="384048" cy="0"/>
          </a:xfrm>
          <a:prstGeom prst="line">
            <a:avLst/>
          </a:prstGeom>
          <a:noFill/>
          <a:ln w="38100">
            <a:solidFill>
              <a:srgbClr val="0E7C86"/>
            </a:solidFill>
            <a:prstDash val="solid"/>
          </a:ln>
        </p:spPr>
      </p:sp>
      <p:sp>
        <p:nvSpPr>
          <p:cNvPr id="86" name="Text 84"/>
          <p:cNvSpPr/>
          <p:nvPr/>
        </p:nvSpPr>
        <p:spPr>
          <a:xfrm>
            <a:off x="10085832" y="2112264"/>
            <a:ext cx="16916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70" b="1" dirty="0">
                <a:solidFill>
                  <a:srgbClr val="1B24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gRPC (HTTP/2)  </a:t>
            </a:r>
            <a:pPr indent="0" marL="0">
              <a:buNone/>
            </a:pPr>
            <a:r>
              <a:rPr lang="en-US" sz="76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Go ↔ Go 내부</a:t>
            </a:r>
            <a:endParaRPr lang="en-US" sz="870" dirty="0"/>
          </a:p>
        </p:txBody>
      </p:sp>
      <p:sp>
        <p:nvSpPr>
          <p:cNvPr id="87" name="Shape 85"/>
          <p:cNvSpPr/>
          <p:nvPr/>
        </p:nvSpPr>
        <p:spPr>
          <a:xfrm>
            <a:off x="9628632" y="2679192"/>
            <a:ext cx="384048" cy="0"/>
          </a:xfrm>
          <a:prstGeom prst="line">
            <a:avLst/>
          </a:prstGeom>
          <a:noFill/>
          <a:ln w="38100">
            <a:solidFill>
              <a:srgbClr val="3B82C4"/>
            </a:solidFill>
            <a:prstDash val="solid"/>
          </a:ln>
        </p:spPr>
      </p:sp>
      <p:sp>
        <p:nvSpPr>
          <p:cNvPr id="88" name="Text 86"/>
          <p:cNvSpPr/>
          <p:nvPr/>
        </p:nvSpPr>
        <p:spPr>
          <a:xfrm>
            <a:off x="10085832" y="2523744"/>
            <a:ext cx="16916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70" b="1" dirty="0">
                <a:solidFill>
                  <a:srgbClr val="1B24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HTTP / REST  </a:t>
            </a:r>
            <a:pPr indent="0" marL="0">
              <a:buNone/>
            </a:pPr>
            <a:r>
              <a:rPr lang="en-US" sz="76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edge·cside·시세 fan-in</a:t>
            </a:r>
            <a:endParaRPr lang="en-US" sz="870" dirty="0"/>
          </a:p>
        </p:txBody>
      </p:sp>
      <p:sp>
        <p:nvSpPr>
          <p:cNvPr id="89" name="Shape 87"/>
          <p:cNvSpPr/>
          <p:nvPr/>
        </p:nvSpPr>
        <p:spPr>
          <a:xfrm>
            <a:off x="9628632" y="3090672"/>
            <a:ext cx="384048" cy="0"/>
          </a:xfrm>
          <a:prstGeom prst="line">
            <a:avLst/>
          </a:prstGeom>
          <a:noFill/>
          <a:ln w="38100">
            <a:solidFill>
              <a:srgbClr val="8B5C9E"/>
            </a:solidFill>
            <a:prstDash val="solid"/>
          </a:ln>
        </p:spPr>
      </p:sp>
      <p:sp>
        <p:nvSpPr>
          <p:cNvPr id="90" name="Text 88"/>
          <p:cNvSpPr/>
          <p:nvPr/>
        </p:nvSpPr>
        <p:spPr>
          <a:xfrm>
            <a:off x="10085832" y="2935224"/>
            <a:ext cx="16916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70" b="1" dirty="0">
                <a:solidFill>
                  <a:srgbClr val="1B24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WebSocket  </a:t>
            </a:r>
            <a:pPr indent="0" marL="0">
              <a:buNone/>
            </a:pPr>
            <a:r>
              <a:rPr lang="en-US" sz="76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고객 fan-out</a:t>
            </a:r>
            <a:endParaRPr lang="en-US" sz="870" dirty="0"/>
          </a:p>
        </p:txBody>
      </p:sp>
      <p:sp>
        <p:nvSpPr>
          <p:cNvPr id="91" name="Shape 89"/>
          <p:cNvSpPr/>
          <p:nvPr/>
        </p:nvSpPr>
        <p:spPr>
          <a:xfrm>
            <a:off x="9628632" y="3502152"/>
            <a:ext cx="384048" cy="0"/>
          </a:xfrm>
          <a:prstGeom prst="line">
            <a:avLst/>
          </a:prstGeom>
          <a:noFill/>
          <a:ln w="38100">
            <a:solidFill>
              <a:srgbClr val="9A7B4F"/>
            </a:solidFill>
            <a:prstDash val="solid"/>
          </a:ln>
        </p:spPr>
      </p:sp>
      <p:sp>
        <p:nvSpPr>
          <p:cNvPr id="92" name="Text 90"/>
          <p:cNvSpPr/>
          <p:nvPr/>
        </p:nvSpPr>
        <p:spPr>
          <a:xfrm>
            <a:off x="10085832" y="3346704"/>
            <a:ext cx="16916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70" b="1" dirty="0">
                <a:solidFill>
                  <a:srgbClr val="1B24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FIX 4.4 (TCP)  </a:t>
            </a:r>
            <a:pPr indent="0" marL="0">
              <a:buNone/>
            </a:pPr>
            <a:r>
              <a:rPr lang="en-US" sz="76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외부 카운터파티</a:t>
            </a:r>
            <a:endParaRPr lang="en-US" sz="870" dirty="0"/>
          </a:p>
        </p:txBody>
      </p:sp>
      <p:sp>
        <p:nvSpPr>
          <p:cNvPr id="93" name="Shape 91"/>
          <p:cNvSpPr/>
          <p:nvPr/>
        </p:nvSpPr>
        <p:spPr>
          <a:xfrm>
            <a:off x="9628632" y="3913632"/>
            <a:ext cx="384048" cy="0"/>
          </a:xfrm>
          <a:prstGeom prst="line">
            <a:avLst/>
          </a:prstGeom>
          <a:noFill/>
          <a:ln w="38100">
            <a:solidFill>
              <a:srgbClr val="2E8B57"/>
            </a:solidFill>
            <a:prstDash val="solid"/>
          </a:ln>
        </p:spPr>
      </p:sp>
      <p:sp>
        <p:nvSpPr>
          <p:cNvPr id="94" name="Text 92"/>
          <p:cNvSpPr/>
          <p:nvPr/>
        </p:nvSpPr>
        <p:spPr>
          <a:xfrm>
            <a:off x="10085832" y="3758184"/>
            <a:ext cx="16916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70" b="1" dirty="0">
                <a:solidFill>
                  <a:srgbClr val="1B24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PostgreSQL (pgx)  </a:t>
            </a:r>
            <a:pPr indent="0" marL="0">
              <a:buNone/>
            </a:pPr>
            <a:r>
              <a:rPr lang="en-US" sz="76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봉 저장/조회</a:t>
            </a:r>
            <a:endParaRPr lang="en-US" sz="870" dirty="0"/>
          </a:p>
        </p:txBody>
      </p:sp>
      <p:sp>
        <p:nvSpPr>
          <p:cNvPr id="95" name="Shape 93"/>
          <p:cNvSpPr/>
          <p:nvPr/>
        </p:nvSpPr>
        <p:spPr>
          <a:xfrm>
            <a:off x="9628632" y="4325112"/>
            <a:ext cx="384048" cy="0"/>
          </a:xfrm>
          <a:prstGeom prst="line">
            <a:avLst/>
          </a:prstGeom>
          <a:noFill/>
          <a:ln w="38100">
            <a:solidFill>
              <a:srgbClr val="D81B7A"/>
            </a:solidFill>
            <a:prstDash val="dash"/>
          </a:ln>
        </p:spPr>
      </p:sp>
      <p:sp>
        <p:nvSpPr>
          <p:cNvPr id="96" name="Text 94"/>
          <p:cNvSpPr/>
          <p:nvPr/>
        </p:nvSpPr>
        <p:spPr>
          <a:xfrm>
            <a:off x="10085832" y="4169664"/>
            <a:ext cx="16916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70" b="1" dirty="0">
                <a:solidFill>
                  <a:srgbClr val="1B24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SHM  (제안)  </a:t>
            </a:r>
            <a:pPr indent="0" marL="0">
              <a:buNone/>
            </a:pPr>
            <a:r>
              <a:rPr lang="en-US" sz="76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동일 호스트 algo</a:t>
            </a:r>
            <a:endParaRPr lang="en-US" sz="870" dirty="0"/>
          </a:p>
        </p:txBody>
      </p:sp>
      <p:sp>
        <p:nvSpPr>
          <p:cNvPr id="97" name="Text 95"/>
          <p:cNvSpPr/>
          <p:nvPr/>
        </p:nvSpPr>
        <p:spPr>
          <a:xfrm>
            <a:off x="9601200" y="4544568"/>
            <a:ext cx="2148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80" i="1" dirty="0">
                <a:solidFill>
                  <a:srgbClr val="D81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Redis 제거 → 세션·cookie_t in-memory</a:t>
            </a:r>
            <a:endParaRPr lang="en-US" sz="78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74320" y="201168"/>
            <a:ext cx="11612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B243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무엇이 바뀌나 — 변경점과 검토 필요 사항</a:t>
            </a:r>
            <a:endParaRPr lang="en-US" sz="2000" dirty="0"/>
          </a:p>
        </p:txBody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74320" y="822960"/>
          <a:ext cx="11612880" cy="914400"/>
        </p:xfrm>
        <a:graphic>
          <a:graphicData uri="http://schemas.openxmlformats.org/drawingml/2006/table">
            <a:tbl>
              <a:tblPr/>
              <a:tblGrid>
                <a:gridCol w="2377440"/>
                <a:gridCol w="4617720"/>
                <a:gridCol w="4617720"/>
              </a:tblGrid>
              <a:tr h="31089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항목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63500" marB="63500" anchor="ctr">
                    <a:lnL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43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이전 (현행)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63500" marB="63500" anchor="ctr">
                    <a:lnL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43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목표 모델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63500" marB="63500" anchor="ctr">
                    <a:lnL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432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1B24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broker 사용 범위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63500" marB="63500" anchor="ctr">
                    <a:lnL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64748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api·price·push·admin·forwarder 전부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63500" marB="63500" anchor="ctr">
                    <a:lnL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1E6E4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mci-api 전용 (매매 transaction만)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63500" marB="63500" anchor="ctr">
                    <a:lnL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1B24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시세 fan-in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63500" marB="63500" anchor="ctr">
                    <a:lnL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64748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forwarder → broker broadcast → price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63500" marB="63500" anchor="ctr">
                    <a:lnL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1E6E4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forwarder → mci-price HTTP push (broker 우회)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63500" marB="63500" anchor="ctr">
                    <a:lnL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1B24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unsolicited push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63500" marB="63500" anchor="ctr">
                    <a:lnL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64748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broker representative receiver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63500" marB="63500" anchor="ctr">
                    <a:lnL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1E6E4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HTTP push track B 전용 (매매엔진→mci-push)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63500" marB="63500" anchor="ctr">
                    <a:lnL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1B24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mci-admin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63500" marB="63500" anchor="ctr">
                    <a:lnL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64748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ChannelAdmin broker + etcd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63500" marB="63500" anchor="ctr">
                    <a:lnL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1E6E4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etcd 전용 (broker 링크 제거)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63500" marB="63500" anchor="ctr">
                    <a:lnL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1B24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세션 · cookie_t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63500" marB="63500" anchor="ctr">
                    <a:lnL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64748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Redis 공유 (멀티 인스턴스)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63500" marB="63500" anchor="ctr">
                    <a:lnL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1E6E4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in-memory (Redis 완전 제거)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63500" marB="63500" anchor="ctr">
                    <a:lnL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" name="Shape 1"/>
          <p:cNvSpPr/>
          <p:nvPr/>
        </p:nvSpPr>
        <p:spPr>
          <a:xfrm>
            <a:off x="274320" y="3566160"/>
            <a:ext cx="11612880" cy="2651760"/>
          </a:xfrm>
          <a:prstGeom prst="roundRect">
            <a:avLst>
              <a:gd name="adj" fmla="val 1724"/>
            </a:avLst>
          </a:prstGeom>
          <a:solidFill>
            <a:srgbClr val="FDF6E9"/>
          </a:solidFill>
          <a:ln w="12700">
            <a:solidFill>
              <a:srgbClr val="E3B04B"/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502920" y="370332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9A6A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  검토 필요 — 결정해야 넘어갈 수 있는 것</a:t>
            </a:r>
            <a:endParaRPr lang="en-US" sz="1300" dirty="0"/>
          </a:p>
        </p:txBody>
      </p:sp>
      <p:sp>
        <p:nvSpPr>
          <p:cNvPr id="6" name="Text 3"/>
          <p:cNvSpPr/>
          <p:nvPr/>
        </p:nvSpPr>
        <p:spPr>
          <a:xfrm>
            <a:off x="502920" y="4114800"/>
            <a:ext cx="11155680" cy="2011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100" b="1" dirty="0">
                <a:solidFill>
                  <a:srgbClr val="1B24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시세 fan-in 대체 전송을 확정 — </a:t>
            </a:r>
            <a:pPr indent="0" marL="0">
              <a:spcAft>
                <a:spcPts val="600"/>
              </a:spcAft>
              <a:buNone/>
            </a:pPr>
            <a:r>
              <a:rPr lang="en-US" sz="1100" dirty="0">
                <a:solidFill>
                  <a:srgbClr val="1B24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이 안은 HTTP push로 그렸으나 gRPC stream 또는 mci-price가 UDP를 직접 수신하는 방식도 가능. (지연·batch 특성 다름)</a:t>
            </a:r>
            <a:endParaRPr lang="en-US" sz="11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100" b="1" dirty="0">
                <a:solidFill>
                  <a:srgbClr val="1B24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Redis 제거의 대가 — </a:t>
            </a:r>
            <a:pPr indent="0" marL="0">
              <a:spcAft>
                <a:spcPts val="600"/>
              </a:spcAft>
              <a:buNone/>
            </a:pPr>
            <a:r>
              <a:rPr lang="en-US" sz="1100" dirty="0">
                <a:solidFill>
                  <a:srgbClr val="1B24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세션이 in-memory가 되면 다중 인스턴스 간 세션 공유 불가. 단일 인스턴스이거나 sticky LB 필요, 재시작 시 전원 재로그인.</a:t>
            </a:r>
            <a:endParaRPr lang="en-US" sz="11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100" b="1" dirty="0">
                <a:solidFill>
                  <a:srgbClr val="1B24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mci-push HTTP 전용화 — </a:t>
            </a:r>
            <a:pPr indent="0" marL="0">
              <a:spcAft>
                <a:spcPts val="600"/>
              </a:spcAft>
              <a:buNone/>
            </a:pPr>
            <a:r>
              <a:rPr lang="en-US" sz="1100" dirty="0">
                <a:solidFill>
                  <a:srgbClr val="1B24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매매 엔진이 broker publish 대신 HTTP push로 전환돼야 함. 전환 전까지 legacy publish 경로는 수신 불가.</a:t>
            </a:r>
            <a:endParaRPr lang="en-US" sz="11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100" b="1" dirty="0">
                <a:solidFill>
                  <a:srgbClr val="1B24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broker 의존 최소화 효과 — </a:t>
            </a:r>
            <a:pPr indent="0" marL="0">
              <a:spcAft>
                <a:spcPts val="600"/>
              </a:spcAft>
              <a:buNone/>
            </a:pPr>
            <a:r>
              <a:rPr lang="en-US" sz="1100" dirty="0">
                <a:solidFill>
                  <a:srgbClr val="1B24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broker는 매매 transaction(동기 RPC)만 담당 → 부하·SIGABRT 표면 축소. 단 시세·push의 신뢰성은 HTTP 계층이 책임짐.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6" baseType="lpstr">
      <vt:lpstr>Arial</vt:lpstr>
      <vt:lpstr>Calibri</vt:lpstr>
      <vt:lpstr>Office Theme</vt:lpstr>
      <vt:lpstr>Slide 1</vt:lpstr>
      <vt:lpstr>Slide 2</vt:lpstr>
      <vt:lpstr>Slide 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WTG 목표 모델 — broker mci-api 전용 · Redis 미사용</dc:title>
  <dc:subject>PptxGenJS Presentation</dc:subject>
  <dc:creator>WTG</dc:creator>
  <cp:lastModifiedBy>WTG</cp:lastModifiedBy>
  <cp:revision>1</cp:revision>
  <dcterms:created xsi:type="dcterms:W3CDTF">2026-07-03T04:18:30Z</dcterms:created>
  <dcterms:modified xsi:type="dcterms:W3CDTF">2026-07-03T04:18:30Z</dcterms:modified>
</cp:coreProperties>
</file>